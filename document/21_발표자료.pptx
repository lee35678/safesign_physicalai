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1F5F9"/>
                </a:solidFill>
                <a:latin typeface="Malgun Gothic"/>
              </a:defRPr>
            </a:pPr>
            <a:r>
              <a:rPr sz="1100" b="0" i="0" u="none" strike="noStrike">
                <a:solidFill>
                  <a:srgbClr val="F1F5F9"/>
                </a:solidFill>
                <a:latin typeface="Malgun Gothic"/>
              </a:rPr>
              <a:t>수신호별 결과 (각 30시도)</a:t>
            </a:r>
          </a:p>
        </c:rich>
      </c:tx>
      <c:layout/>
      <c:overlay val="0"/>
    </c:title>
    <c:autoTitleDeleted val="0"/>
    <c:plotArea>
      <c:layout/>
      <c:barChart>
        <c:barDir val="bar"/>
        <c:grouping val="stacked"/>
        <c:varyColors val="0"/>
        <c:ser>
          <c:idx val="0"/>
          <c:order val="0"/>
          <c:tx>
            <c:strRef>
              <c:f>Sheet1!$B$1</c:f>
              <c:strCache>
                <c:ptCount val="1"/>
                <c:pt idx="0">
                  <c:v>정답</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Sheet1!$B$2:$B$8</c:f>
              <c:numCache>
                <c:formatCode>General</c:formatCode>
                <c:ptCount val="7"/>
                <c:pt idx="0">
                  <c:v>30</c:v>
                </c:pt>
                <c:pt idx="1">
                  <c:v>29</c:v>
                </c:pt>
                <c:pt idx="2">
                  <c:v>30</c:v>
                </c:pt>
                <c:pt idx="3">
                  <c:v>30</c:v>
                </c:pt>
                <c:pt idx="4">
                  <c:v>27</c:v>
                </c:pt>
                <c:pt idx="5">
                  <c:v>24</c:v>
                </c:pt>
                <c:pt idx="6">
                  <c:v>30</c:v>
                </c:pt>
              </c:numCache>
            </c:numRef>
          </c:val>
        </c:ser>
        <c:ser>
          <c:idx val="1"/>
          <c:order val="1"/>
          <c:tx>
            <c:strRef>
              <c:f>Sheet1!$C$1</c:f>
              <c:strCache>
                <c:ptCount val="1"/>
                <c:pt idx="0">
                  <c:v>미판정</c:v>
                </c:pt>
              </c:strCache>
            </c:strRef>
          </c:tx>
          <c:spPr>
            <a:solidFill>
              <a:srgbClr val="0891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Sheet1!$C$2:$C$8</c:f>
              <c:numCache>
                <c:formatCode>General</c:formatCode>
                <c:ptCount val="7"/>
                <c:pt idx="0">
                  <c:v>0</c:v>
                </c:pt>
                <c:pt idx="1">
                  <c:v>1</c:v>
                </c:pt>
                <c:pt idx="2">
                  <c:v>0</c:v>
                </c:pt>
                <c:pt idx="3">
                  <c:v>0</c:v>
                </c:pt>
                <c:pt idx="4">
                  <c:v>3</c:v>
                </c:pt>
                <c:pt idx="5">
                  <c:v>6</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D1217"/>
        </a:solidFill>
        <a:ln>
          <a:noFill/>
        </a:ln>
        <a:effectLst/>
      </c:spPr>
    </c:plotArea>
    <c:legend>
      <c:legendPos val="b"/>
      <c:overlay val="0"/>
      <c:txPr>
        <a:bodyPr/>
        <a:lstStyle/>
        <a:p>
          <a:pPr>
            <a:defRPr sz="9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1F5F9"/>
                </a:solidFill>
                <a:latin typeface="Malgun Gothic"/>
              </a:defRPr>
            </a:pPr>
            <a:r>
              <a:rPr sz="1200" b="0" i="0" u="none" strike="noStrike">
                <a:solidFill>
                  <a:srgbClr val="F1F5F9"/>
                </a:solidFill>
                <a:latin typeface="Malgun Gothic"/>
              </a:rPr>
              <a:t>온라인 실측 분포 (ms, 정답 91시도)</a:t>
            </a:r>
          </a:p>
        </c:rich>
      </c:tx>
      <c:layout/>
      <c:overlay val="0"/>
    </c:title>
    <c:autoTitleDeleted val="0"/>
    <c:plotArea>
      <c:layout/>
      <c:barChart>
        <c:barDir val="col"/>
        <c:grouping val="clustered"/>
        <c:varyColors val="0"/>
        <c:ser>
          <c:idx val="0"/>
          <c:order val="0"/>
          <c:tx>
            <c:strRef>
              <c:f>Sheet1!$B$1</c:f>
              <c:strCache>
                <c:ptCount val="1"/>
                <c:pt idx="0">
                  <c:v>판정 지연</c:v>
                </c:pt>
              </c:strCache>
            </c:strRef>
          </c:tx>
          <c:spPr>
            <a:solidFill>
              <a:srgbClr val="EA580C"/>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Sheet1!$B$2:$B$5</c:f>
              <c:numCache>
                <c:formatCode>General</c:formatCode>
                <c:ptCount val="4"/>
                <c:pt idx="0">
                  <c:v>33</c:v>
                </c:pt>
                <c:pt idx="1">
                  <c:v>37</c:v>
                </c:pt>
                <c:pt idx="2">
                  <c:v>46</c:v>
                </c:pt>
                <c:pt idx="3">
                  <c:v>65</c:v>
                </c:pt>
              </c:numCache>
            </c:numRef>
          </c:val>
        </c:ser>
        <c:ser>
          <c:idx val="1"/>
          <c:order val="1"/>
          <c:tx>
            <c:strRef>
              <c:f>Sheet1!$C$1</c:f>
              <c:strCache>
                <c:ptCount val="1"/>
                <c:pt idx="0">
                  <c:v>물리 피드백 시작</c:v>
                </c:pt>
              </c:strCache>
            </c:strRef>
          </c:tx>
          <c:spPr>
            <a:solidFill>
              <a:srgbClr val="0891B2"/>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Sheet1!$C$2:$C$5</c:f>
              <c:numCache>
                <c:formatCode>General</c:formatCode>
                <c:ptCount val="4"/>
                <c:pt idx="0">
                  <c:v>62</c:v>
                </c:pt>
                <c:pt idx="1">
                  <c:v>76</c:v>
                </c:pt>
                <c:pt idx="2">
                  <c:v>89</c:v>
                </c:pt>
                <c:pt idx="3">
                  <c:v>262</c:v>
                </c:pt>
              </c:numCache>
            </c:numRef>
          </c:val>
        </c:ser>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26324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majorUnit val="100"/>
      </c:valAx>
      <c:spPr>
        <a:solidFill>
          <a:srgbClr val="0D1217"/>
        </a:solidFill>
        <a:ln>
          <a:noFill/>
        </a:ln>
        <a:effectLst/>
      </c:spPr>
    </c:plotArea>
    <c:legend>
      <c:legendPos val="t"/>
      <c:overlay val="0"/>
      <c:txPr>
        <a:bodyPr/>
        <a:lstStyle/>
        <a:p>
          <a:pPr>
            <a:defRPr sz="10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심기일전입니다. 저희는 로봇 손이 수신호를 시범 보이고, 카메라가 학습자의 손을 판정하고, 로봇이 결과를 몸으로 돌려주는 산업 안전 수신호 교육 키트 SafeSign PhysicalAI를 만들었습니다. 오른쪽은 실제 판정 화면입니다.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크레인 작업은 법으로 정한 신호로 해야 합니다. 그런데 타워크레인 양중작업 재해의 13%가 신호를 잘못 알거나 순서를 지키지 않아서 생겼고, 2023년에도 크레인류 사고로 23명이 숨졌습니다. 신호수는 8시간 이론 위주 교육만 받고 실기 평가가 없어서, 학습자가 실제로 따라 할 수 있는지, 누가 어떤 신호에 약한지 알 수 없습니다. 그래서 보여 주고, 판정하고, 몸으로 돌려주고, 기록하는 것을 목표로 잡았습니다.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해결 방법은 닫힌 루프입니다. AI Hand가 시범을 보이면 학습자가 확인 버튼을 누르고 따라 합니다. 정답이면 picar가 그 신호대로 움직이고 micro:bit에 O가 뜹니다. 틀리면 micro:bit에 X가 뜨고, AI Hand가 잡고 있는 시범 자세를 다시 보며 세 번까지 따라 할 수 있습니다. AI Hand는 시범 전용이라 판정 뒤에는 움직이지 않습니다. 인식 결과가 로봇의 움직임으로 돌아온다는 점이 피지컬 AI인 이유입니다.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보드는 두 대입니다. 학습자 앞에 고정된 라즈베리파이 5에서 카메라, 인식과 판정, 교육 화면, AI Hand 제어가 돌아가고, AI Hand는 micro:bit가 BLE로, picar는 라즈베리파이 4B가 Wi-Fi로 명령을 받습니다. 보드를 나눈 건 picar가 달리면 카메라도 같이 움직이기 때문이고, BLE로 바꾼 건 서보를 켜면 USB 시리얼이 끊겼기 때문입니다. 둘 다 실제로 부딪혀서 바꾼 결정입니다.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MediaPipe로 손 관절 21점을 뽑고, 관절 각도와 거리로 특징 23개를 만들어 SVM이 7종을 분류합니다. 확률이 0.75 미만이거나 학습 분포에서 먼 손은 오답 대신 미판정으로 보류하고 다시 해 달라고 안내하며, 3프레임 연속 같을 때만 확정합니다. SVM을 고른 이유는 데이터가 적어도 되고, 라즈베리파이에서 실시간으로 돌고, 판정 이유를 설명할 수 있어서입니다.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수신호는 크레인 작업표준신호지침의 5종을 손 모양으로 재해석하고 후진과 주의를 더한 7종입니다. 표준은 팔 동작이라 그대로 옮긴 것은 아니고, 서행과 확인 완료는 표준 동작과 다릅니다. 학습 데이터는 공개 ASL 지문자 데이터셋과 손가락 세기 데이터셋에서 손 모양만 빌려 왔습니다. 그림은 실제 측정 촬영에서 뽑은 손 관절이고, 주황 점이 편 손가락 끝입니다. 따라 하기 어렵거나 공개 데이터가 없는 손모양은 바꿨습니다. 예를 들어 확인 완료는 엄지 세우기 대신 주먹입니다.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실물 시험에서 고친 것들입니다. 수신호가 바뀌자마자 방금 맞힌 손모양이 다음 신호의 오답으로 잡혀서, 시범과 판정을 확인 버튼으로 나눴습니다. 끝나지 않던 교육은 시도 3회와 10초 제한으로, 모터가 멈춰도 화면은 정상이던 조용한 실패는 장치 응답 확인과 상태 표시로 고쳤습니다. 그리고 98.81%로 나온 정확도가 같은 촬영분이 학습과 평가에 섞여 부풀려진 것을 찾아, 촬영 세션 단위 평가로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결과입니다. 학습에 쓰지 않은 팀원 3명의 210시도로 쟀습니다. 오분류율은 0%로 다른 신호로 잘못 읽은 경우가 한 번도 없었고, 가장 위험한 정지를 다른 신호로 읽는 치명 오분류도 0건입니다. 정답률 95.2%, 미판정 4.8%, Macro F1 0.974로 판정 KPI 다섯 개 모두 목표를 충족했습니다. 다만 정답률과 미판정률은 신뢰구간이 목표선에 걸쳐 있고, 치명 오분류 0건은 정지 30시도뿐이라 95% 상한이 11.4%여서, 이 세 개는 잠정 달성으로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지연은 10월 2일 실제 장비로 정답 91시도를 쟀습니다. 판정 지연 P95는 0.046초로 목표 1초의 20분의 1이고, 판정 뒤 picar와 micro:bit가 반응을 시작하기까지 P95는 0.089초입니다. 95% 상한으로도 목표 안입니다. 240fps 슬로모션으로 7시도를 직접 세어 보니 손을 멈춘 뒤 반응 시작까지 0.14에서 0.24초, picar 주행을 뺀 동작 완료까지 약 1.1에서 1.2초였습니다.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한계입니다. 미판정 10건 중 7건이 손을 오른쪽으로 기울인 자세여서, 기울기 보정을 새 데이터로 확인할 계획입니다. 평가자가 모두 팀원이라 현장 작업자 의견은 시연 자리에서 받고, 오분류 0%는 표본상 1.8% 이하, 치명 오분류 0건은 11.4% 이하로 읽어야 해서 시행 수를 늘릴 계획입니다. 역할은 오른쪽과 같습니다.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566928"/>
            <a:ext cx="118872" cy="118872"/>
          </a:xfrm>
          <a:prstGeom prst="rect">
            <a:avLst/>
          </a:prstGeom>
          <a:solidFill>
            <a:srgbClr val="F97316"/>
          </a:solidFill>
          <a:ln w="12700">
            <a:solidFill>
              <a:srgbClr val="F97316"/>
            </a:solidFill>
            <a:prstDash val="solid"/>
          </a:ln>
        </p:spPr>
      </p:sp>
      <p:sp>
        <p:nvSpPr>
          <p:cNvPr id="3" name="Text 1"/>
          <p:cNvSpPr/>
          <p:nvPr/>
        </p:nvSpPr>
        <p:spPr>
          <a:xfrm>
            <a:off x="777240" y="457200"/>
            <a:ext cx="548640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심기일전  ·  2026 Physical AI 프로젝트</a:t>
            </a:r>
            <a:endParaRPr lang="ko-KR" sz="1200" dirty="0"/>
          </a:p>
        </p:txBody>
      </p:sp>
      <p:sp>
        <p:nvSpPr>
          <p:cNvPr id="4" name="Text 2"/>
          <p:cNvSpPr/>
          <p:nvPr/>
        </p:nvSpPr>
        <p:spPr>
          <a:xfrm>
            <a:off x="548640" y="1600200"/>
            <a:ext cx="5669280" cy="914400"/>
          </a:xfrm>
          <a:prstGeom prst="rect">
            <a:avLst/>
          </a:prstGeom>
          <a:noFill/>
          <a:ln/>
        </p:spPr>
        <p:txBody>
          <a:bodyPr wrap="square" lIns="0" tIns="0" rIns="0" bIns="0" rtlCol="0" anchor="ctr"/>
          <a:lstStyle/>
          <a:p>
            <a:pPr indent="0" marL="0">
              <a:buNone/>
            </a:pPr>
            <a:r>
              <a:rPr lang="ko-KR" altLang="en-US" sz="6000" b="1" dirty="0">
                <a:solidFill>
                  <a:srgbClr val="F1F5F9"/>
                </a:solidFill>
                <a:latin typeface="Malgun Gothic" pitchFamily="34" charset="0"/>
                <a:ea typeface="Malgun Gothic" pitchFamily="34" charset="-122"/>
                <a:cs typeface="Malgun Gothic" pitchFamily="34" charset="-120"/>
              </a:rPr>
              <a:t>SafeSign</a:t>
            </a:r>
            <a:endParaRPr lang="ko-KR" sz="6000" dirty="0"/>
          </a:p>
        </p:txBody>
      </p:sp>
      <p:sp>
        <p:nvSpPr>
          <p:cNvPr id="5" name="Text 3"/>
          <p:cNvSpPr/>
          <p:nvPr/>
        </p:nvSpPr>
        <p:spPr>
          <a:xfrm>
            <a:off x="548640" y="2468880"/>
            <a:ext cx="5669280" cy="822960"/>
          </a:xfrm>
          <a:prstGeom prst="rect">
            <a:avLst/>
          </a:prstGeom>
          <a:noFill/>
          <a:ln/>
        </p:spPr>
        <p:txBody>
          <a:bodyPr wrap="square" lIns="0" tIns="0" rIns="0" bIns="0" rtlCol="0" anchor="ctr"/>
          <a:lstStyle/>
          <a:p>
            <a:pPr indent="0" marL="0">
              <a:buNone/>
            </a:pPr>
            <a:r>
              <a:rPr lang="ko-KR" altLang="en-US" sz="4400" b="1" dirty="0">
                <a:solidFill>
                  <a:srgbClr val="F97316"/>
                </a:solidFill>
                <a:latin typeface="Malgun Gothic" pitchFamily="34" charset="0"/>
                <a:ea typeface="Malgun Gothic" pitchFamily="34" charset="-122"/>
                <a:cs typeface="Malgun Gothic" pitchFamily="34" charset="-120"/>
              </a:rPr>
              <a:t>PhysicalAI</a:t>
            </a:r>
            <a:endParaRPr lang="ko-KR" sz="4400" dirty="0"/>
          </a:p>
        </p:txBody>
      </p:sp>
      <p:sp>
        <p:nvSpPr>
          <p:cNvPr id="6" name="Text 4"/>
          <p:cNvSpPr/>
          <p:nvPr/>
        </p:nvSpPr>
        <p:spPr>
          <a:xfrm>
            <a:off x="548640" y="3520440"/>
            <a:ext cx="5577840" cy="914400"/>
          </a:xfrm>
          <a:prstGeom prst="rect">
            <a:avLst/>
          </a:prstGeom>
          <a:noFill/>
          <a:ln/>
        </p:spPr>
        <p:txBody>
          <a:bodyPr wrap="square" lIns="0" tIns="0" rIns="0" bIns="0" rtlCol="0" anchor="t"/>
          <a:lstStyle/>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 손이 시범하고, 카메라가 판정하고,</a:t>
            </a:r>
            <a:endParaRPr lang="ko-KR" sz="1800" dirty="0"/>
          </a:p>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로봇이 결과로 돌려주는 산업 안전 수신호 교육</a:t>
            </a:r>
            <a:endParaRPr lang="ko-KR" sz="1800" dirty="0"/>
          </a:p>
        </p:txBody>
      </p:sp>
      <p:sp>
        <p:nvSpPr>
          <p:cNvPr id="7" name="Shape 5"/>
          <p:cNvSpPr/>
          <p:nvPr/>
        </p:nvSpPr>
        <p:spPr>
          <a:xfrm>
            <a:off x="548640" y="4800600"/>
            <a:ext cx="1737360" cy="868680"/>
          </a:xfrm>
          <a:prstGeom prst="rect">
            <a:avLst/>
          </a:prstGeom>
          <a:solidFill>
            <a:srgbClr val="121820"/>
          </a:solidFill>
          <a:ln w="9525">
            <a:solidFill>
              <a:srgbClr val="263241"/>
            </a:solidFill>
            <a:prstDash val="solid"/>
          </a:ln>
        </p:spPr>
      </p:sp>
      <p:sp>
        <p:nvSpPr>
          <p:cNvPr id="8" name="Text 6"/>
          <p:cNvSpPr/>
          <p:nvPr/>
        </p:nvSpPr>
        <p:spPr>
          <a:xfrm>
            <a:off x="71323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수신호</a:t>
            </a:r>
            <a:endParaRPr lang="ko-KR" sz="1100" dirty="0"/>
          </a:p>
        </p:txBody>
      </p:sp>
      <p:sp>
        <p:nvSpPr>
          <p:cNvPr id="9" name="Text 7"/>
          <p:cNvSpPr/>
          <p:nvPr/>
        </p:nvSpPr>
        <p:spPr>
          <a:xfrm>
            <a:off x="71323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7종</a:t>
            </a:r>
            <a:endParaRPr lang="ko-KR" sz="2000" dirty="0"/>
          </a:p>
        </p:txBody>
      </p:sp>
      <p:sp>
        <p:nvSpPr>
          <p:cNvPr id="10" name="Shape 8"/>
          <p:cNvSpPr/>
          <p:nvPr/>
        </p:nvSpPr>
        <p:spPr>
          <a:xfrm>
            <a:off x="2423160" y="4800600"/>
            <a:ext cx="1737360" cy="868680"/>
          </a:xfrm>
          <a:prstGeom prst="rect">
            <a:avLst/>
          </a:prstGeom>
          <a:solidFill>
            <a:srgbClr val="121820"/>
          </a:solidFill>
          <a:ln w="9525">
            <a:solidFill>
              <a:srgbClr val="263241"/>
            </a:solidFill>
            <a:prstDash val="solid"/>
          </a:ln>
        </p:spPr>
      </p:sp>
      <p:sp>
        <p:nvSpPr>
          <p:cNvPr id="11" name="Text 9"/>
          <p:cNvSpPr/>
          <p:nvPr/>
        </p:nvSpPr>
        <p:spPr>
          <a:xfrm>
            <a:off x="258775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KPI (3개 잠정)</a:t>
            </a:r>
            <a:endParaRPr lang="ko-KR" sz="1100" dirty="0"/>
          </a:p>
        </p:txBody>
      </p:sp>
      <p:sp>
        <p:nvSpPr>
          <p:cNvPr id="12" name="Text 10"/>
          <p:cNvSpPr/>
          <p:nvPr/>
        </p:nvSpPr>
        <p:spPr>
          <a:xfrm>
            <a:off x="258775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7개 달성</a:t>
            </a:r>
            <a:endParaRPr lang="ko-KR" sz="2000" dirty="0"/>
          </a:p>
        </p:txBody>
      </p:sp>
      <p:sp>
        <p:nvSpPr>
          <p:cNvPr id="13" name="Shape 11"/>
          <p:cNvSpPr/>
          <p:nvPr/>
        </p:nvSpPr>
        <p:spPr>
          <a:xfrm>
            <a:off x="4297680" y="4800600"/>
            <a:ext cx="1737360" cy="868680"/>
          </a:xfrm>
          <a:prstGeom prst="rect">
            <a:avLst/>
          </a:prstGeom>
          <a:solidFill>
            <a:srgbClr val="121820"/>
          </a:solidFill>
          <a:ln w="9525">
            <a:solidFill>
              <a:srgbClr val="263241"/>
            </a:solidFill>
            <a:prstDash val="solid"/>
          </a:ln>
        </p:spPr>
      </p:sp>
      <p:sp>
        <p:nvSpPr>
          <p:cNvPr id="14" name="Text 12"/>
          <p:cNvSpPr/>
          <p:nvPr/>
        </p:nvSpPr>
        <p:spPr>
          <a:xfrm>
            <a:off x="446227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오분류</a:t>
            </a:r>
            <a:endParaRPr lang="ko-KR" sz="1100" dirty="0"/>
          </a:p>
        </p:txBody>
      </p:sp>
      <p:sp>
        <p:nvSpPr>
          <p:cNvPr id="15" name="Text 13"/>
          <p:cNvSpPr/>
          <p:nvPr/>
        </p:nvSpPr>
        <p:spPr>
          <a:xfrm>
            <a:off x="446227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0 / 210</a:t>
            </a:r>
            <a:endParaRPr lang="ko-KR" sz="2000" dirty="0"/>
          </a:p>
        </p:txBody>
      </p:sp>
      <p:sp>
        <p:nvSpPr>
          <p:cNvPr id="16" name="Text 14"/>
          <p:cNvSpPr/>
          <p:nvPr/>
        </p:nvSpPr>
        <p:spPr>
          <a:xfrm>
            <a:off x="548640" y="6035040"/>
            <a:ext cx="566928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송승호(팀장)  ·  이동혁  ·  조은수  ·  김지훈</a:t>
            </a:r>
            <a:endParaRPr lang="ko-KR" sz="1200" dirty="0"/>
          </a:p>
        </p:txBody>
      </p:sp>
      <p:sp>
        <p:nvSpPr>
          <p:cNvPr id="17" name="Shape 15"/>
          <p:cNvSpPr/>
          <p:nvPr/>
        </p:nvSpPr>
        <p:spPr>
          <a:xfrm>
            <a:off x="6373368" y="1527048"/>
            <a:ext cx="5342839" cy="3069355"/>
          </a:xfrm>
          <a:prstGeom prst="rect">
            <a:avLst/>
          </a:prstGeom>
          <a:solidFill>
            <a:srgbClr val="121820"/>
          </a:solidFill>
          <a:ln w="9525">
            <a:solidFill>
              <a:srgbClr val="263241"/>
            </a:solidFill>
            <a:prstDash val="solid"/>
          </a:ln>
        </p:spPr>
      </p:sp>
      <p:pic>
        <p:nvPicPr>
          <p:cNvPr id="18" name="Image 0" descr="C:/SafeSign_PhysicalAI/services/portal/frontend/media/station-judging-poster.jpg">    </p:cNvPr>
          <p:cNvPicPr>
            <a:picLocks noChangeAspect="1"/>
          </p:cNvPicPr>
          <p:nvPr/>
        </p:nvPicPr>
        <p:blipFill>
          <a:blip r:embed="rId1"/>
          <a:stretch>
            <a:fillRect/>
          </a:stretch>
        </p:blipFill>
        <p:spPr>
          <a:xfrm>
            <a:off x="6446520" y="1600200"/>
            <a:ext cx="5196535" cy="2923051"/>
          </a:xfrm>
          <a:prstGeom prst="rect">
            <a:avLst/>
          </a:prstGeom>
        </p:spPr>
      </p:pic>
      <p:sp>
        <p:nvSpPr>
          <p:cNvPr id="19" name="Text 16"/>
          <p:cNvSpPr/>
          <p:nvPr/>
        </p:nvSpPr>
        <p:spPr>
          <a:xfrm>
            <a:off x="6446520" y="4706131"/>
            <a:ext cx="5196535" cy="274320"/>
          </a:xfrm>
          <a:prstGeom prst="rect">
            <a:avLst/>
          </a:prstGeom>
          <a:noFill/>
          <a:ln/>
        </p:spPr>
        <p:txBody>
          <a:bodyPr wrap="square" lIns="0" tIns="0" rIns="0" bIns="0" rtlCol="0" anchor="ctr"/>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교육장 키트 판정 화면: 일치율이 기준 75%를 넘어 3프레임 연속이면 정답 확정</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02   문제 정의</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02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수신호를 ‘봤다’와 ‘할 수 있다’는 다르다</a:t>
            </a:r>
            <a:endParaRPr lang="ko-KR" sz="3000" dirty="0"/>
          </a:p>
        </p:txBody>
      </p:sp>
      <p:sp>
        <p:nvSpPr>
          <p:cNvPr id="7" name="Text 5"/>
          <p:cNvSpPr/>
          <p:nvPr/>
        </p:nvSpPr>
        <p:spPr>
          <a:xfrm>
            <a:off x="548640" y="1691640"/>
            <a:ext cx="5120640" cy="2377440"/>
          </a:xfrm>
          <a:prstGeom prst="rect">
            <a:avLst/>
          </a:prstGeom>
          <a:noFill/>
          <a:ln/>
        </p:spPr>
        <p:txBody>
          <a:bodyPr wrap="square" lIns="0" tIns="0" rIns="0" bIns="0" rtlCol="0" anchor="t"/>
          <a:lstStyle/>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크레인 작업은 법으로 정한 신호로 해야 하지만, 타워크레인 양중작업 재해의 13.0%(343건 중 45건)가 신호체계 미준수에서 생겼습니다.</a:t>
            </a:r>
            <a:endParaRPr lang="ko-KR" sz="1600" dirty="0"/>
          </a:p>
          <a:p>
            <a:pPr indent="0" marL="0">
              <a:lnSpc>
                <a:spcPct val="125000"/>
              </a:lnSpc>
              <a:buNone/>
            </a:pPr>
            <a:r>
              <a:rPr lang="ko-KR" altLang="en-US" sz="800" dirty="0">
                <a:solidFill>
                  <a:srgbClr val="F1F5F9"/>
                </a:solidFill>
                <a:latin typeface="Malgun Gothic" pitchFamily="34" charset="0"/>
                <a:ea typeface="Malgun Gothic" pitchFamily="34" charset="-122"/>
                <a:cs typeface="Malgun Gothic" pitchFamily="34" charset="-120"/>
              </a:rPr>
              <a:t> </a:t>
            </a:r>
            <a:endParaRPr lang="ko-KR" sz="1600" dirty="0"/>
          </a:p>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신호수는 8시간 이론 위주 교육만 받고 실기 평가가 없습니다. 영상·인쇄물로는 정확히 따라 할 수 있는지 확인할 방법이 없습니다.</a:t>
            </a:r>
            <a:endParaRPr lang="ko-KR" sz="1600" dirty="0"/>
          </a:p>
          <a:p>
            <a:pPr indent="0" marL="0">
              <a:lnSpc>
                <a:spcPct val="125000"/>
              </a:lnSpc>
              <a:buNone/>
            </a:pPr>
            <a:r>
              <a:rPr lang="ko-KR" altLang="en-US" sz="800" dirty="0">
                <a:solidFill>
                  <a:srgbClr val="F1F5F9"/>
                </a:solidFill>
                <a:latin typeface="Malgun Gothic" pitchFamily="34" charset="0"/>
                <a:ea typeface="Malgun Gothic" pitchFamily="34" charset="-122"/>
                <a:cs typeface="Malgun Gothic" pitchFamily="34" charset="-120"/>
              </a:rPr>
              <a:t> </a:t>
            </a:r>
            <a:endParaRPr lang="ko-KR" sz="1600" dirty="0"/>
          </a:p>
          <a:p>
            <a:pPr indent="0" marL="0">
              <a:lnSpc>
                <a:spcPct val="125000"/>
              </a:lnSpc>
              <a:buNone/>
            </a:pPr>
            <a:r>
              <a:rPr lang="ko-KR" altLang="en-US" sz="1000" dirty="0">
                <a:solidFill>
                  <a:srgbClr val="94A3B8"/>
                </a:solidFill>
                <a:latin typeface="Malgun Gothic" pitchFamily="34" charset="0"/>
                <a:ea typeface="Malgun Gothic" pitchFamily="34" charset="-122"/>
                <a:cs typeface="Malgun Gothic" pitchFamily="34" charset="-120"/>
              </a:rPr>
              <a:t>근거: 안전보건규칙 제40조 · 임현무·김승호(2022) · 고용노동부(2023)</a:t>
            </a:r>
            <a:endParaRPr lang="ko-KR" sz="1600" dirty="0"/>
          </a:p>
        </p:txBody>
      </p:sp>
      <p:sp>
        <p:nvSpPr>
          <p:cNvPr id="8" name="Shape 6"/>
          <p:cNvSpPr/>
          <p:nvPr/>
        </p:nvSpPr>
        <p:spPr>
          <a:xfrm>
            <a:off x="6263640" y="1691640"/>
            <a:ext cx="5379415" cy="1005840"/>
          </a:xfrm>
          <a:prstGeom prst="rect">
            <a:avLst/>
          </a:prstGeom>
          <a:solidFill>
            <a:srgbClr val="121820"/>
          </a:solidFill>
          <a:ln w="9525">
            <a:solidFill>
              <a:srgbClr val="263241"/>
            </a:solidFill>
            <a:prstDash val="solid"/>
          </a:ln>
        </p:spPr>
      </p:sp>
      <p:sp>
        <p:nvSpPr>
          <p:cNvPr id="9" name="Shape 7"/>
          <p:cNvSpPr/>
          <p:nvPr/>
        </p:nvSpPr>
        <p:spPr>
          <a:xfrm>
            <a:off x="6492240" y="1920240"/>
            <a:ext cx="548640" cy="548640"/>
          </a:xfrm>
          <a:prstGeom prst="ellipse">
            <a:avLst/>
          </a:prstGeom>
          <a:solidFill>
            <a:srgbClr val="18202A"/>
          </a:solidFill>
          <a:ln w="9525">
            <a:solidFill>
              <a:srgbClr val="263241"/>
            </a:solidFill>
            <a:prstDash val="solid"/>
          </a:ln>
        </p:spPr>
      </p:sp>
      <p:pic>
        <p:nvPicPr>
          <p:cNvPr id="10" name="Image 0" descr="preencoded.png">    </p:cNvPr>
          <p:cNvPicPr>
            <a:picLocks noChangeAspect="1"/>
          </p:cNvPicPr>
          <p:nvPr/>
        </p:nvPicPr>
        <p:blipFill>
          <a:blip r:embed="rId1"/>
          <a:stretch>
            <a:fillRect/>
          </a:stretch>
        </p:blipFill>
        <p:spPr>
          <a:xfrm>
            <a:off x="6611112" y="2039112"/>
            <a:ext cx="310896" cy="310896"/>
          </a:xfrm>
          <a:prstGeom prst="rect">
            <a:avLst/>
          </a:prstGeom>
        </p:spPr>
      </p:pic>
      <p:sp>
        <p:nvSpPr>
          <p:cNvPr id="11" name="Text 8"/>
          <p:cNvSpPr/>
          <p:nvPr/>
        </p:nvSpPr>
        <p:spPr>
          <a:xfrm>
            <a:off x="7269480" y="184708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신입 · 현장 작업자</a:t>
            </a:r>
            <a:endParaRPr lang="ko-KR" sz="1500" dirty="0"/>
          </a:p>
        </p:txBody>
      </p:sp>
      <p:sp>
        <p:nvSpPr>
          <p:cNvPr id="12" name="Text 9"/>
          <p:cNvSpPr/>
          <p:nvPr/>
        </p:nvSpPr>
        <p:spPr>
          <a:xfrm>
            <a:off x="7269480" y="219456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내가 제대로 하고 있는지 알 수 없다</a:t>
            </a:r>
            <a:endParaRPr lang="ko-KR" sz="1300" dirty="0"/>
          </a:p>
        </p:txBody>
      </p:sp>
      <p:sp>
        <p:nvSpPr>
          <p:cNvPr id="13" name="Shape 10"/>
          <p:cNvSpPr/>
          <p:nvPr/>
        </p:nvSpPr>
        <p:spPr>
          <a:xfrm>
            <a:off x="6263640" y="2880360"/>
            <a:ext cx="5379415" cy="1005840"/>
          </a:xfrm>
          <a:prstGeom prst="rect">
            <a:avLst/>
          </a:prstGeom>
          <a:solidFill>
            <a:srgbClr val="121820"/>
          </a:solidFill>
          <a:ln w="9525">
            <a:solidFill>
              <a:srgbClr val="263241"/>
            </a:solidFill>
            <a:prstDash val="solid"/>
          </a:ln>
        </p:spPr>
      </p:sp>
      <p:sp>
        <p:nvSpPr>
          <p:cNvPr id="14" name="Shape 11"/>
          <p:cNvSpPr/>
          <p:nvPr/>
        </p:nvSpPr>
        <p:spPr>
          <a:xfrm>
            <a:off x="6492240" y="3108960"/>
            <a:ext cx="548640" cy="548640"/>
          </a:xfrm>
          <a:prstGeom prst="ellipse">
            <a:avLst/>
          </a:prstGeom>
          <a:solidFill>
            <a:srgbClr val="18202A"/>
          </a:solidFill>
          <a:ln w="9525">
            <a:solidFill>
              <a:srgbClr val="263241"/>
            </a:solidFill>
            <a:prstDash val="solid"/>
          </a:ln>
        </p:spPr>
      </p:sp>
      <p:pic>
        <p:nvPicPr>
          <p:cNvPr id="15" name="Image 1" descr="preencoded.png">    </p:cNvPr>
          <p:cNvPicPr>
            <a:picLocks noChangeAspect="1"/>
          </p:cNvPicPr>
          <p:nvPr/>
        </p:nvPicPr>
        <p:blipFill>
          <a:blip r:embed="rId2"/>
          <a:stretch>
            <a:fillRect/>
          </a:stretch>
        </p:blipFill>
        <p:spPr>
          <a:xfrm>
            <a:off x="6611112" y="3227832"/>
            <a:ext cx="310896" cy="310896"/>
          </a:xfrm>
          <a:prstGeom prst="rect">
            <a:avLst/>
          </a:prstGeom>
        </p:spPr>
      </p:pic>
      <p:sp>
        <p:nvSpPr>
          <p:cNvPr id="16" name="Text 12"/>
          <p:cNvSpPr/>
          <p:nvPr/>
        </p:nvSpPr>
        <p:spPr>
          <a:xfrm>
            <a:off x="7269480" y="303580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안전 교육자</a:t>
            </a:r>
            <a:endParaRPr lang="ko-KR" sz="1500" dirty="0"/>
          </a:p>
        </p:txBody>
      </p:sp>
      <p:sp>
        <p:nvSpPr>
          <p:cNvPr id="17" name="Text 13"/>
          <p:cNvSpPr/>
          <p:nvPr/>
        </p:nvSpPr>
        <p:spPr>
          <a:xfrm>
            <a:off x="7269480" y="338328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누가 어떤 수신호에 약한지 숫자로 알 수 없다</a:t>
            </a:r>
            <a:endParaRPr lang="ko-KR" sz="1300" dirty="0"/>
          </a:p>
        </p:txBody>
      </p:sp>
      <p:sp>
        <p:nvSpPr>
          <p:cNvPr id="18" name="Text 14"/>
          <p:cNvSpPr/>
          <p:nvPr/>
        </p:nvSpPr>
        <p:spPr>
          <a:xfrm>
            <a:off x="548640" y="4343400"/>
            <a:ext cx="5486400" cy="320040"/>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그래서 교육 키트가 해야 할 일</a:t>
            </a:r>
            <a:endParaRPr lang="ko-KR" sz="1300" dirty="0"/>
          </a:p>
        </p:txBody>
      </p:sp>
      <p:sp>
        <p:nvSpPr>
          <p:cNvPr id="19" name="Shape 15"/>
          <p:cNvSpPr/>
          <p:nvPr/>
        </p:nvSpPr>
        <p:spPr>
          <a:xfrm>
            <a:off x="548640" y="4754880"/>
            <a:ext cx="2602154" cy="1188720"/>
          </a:xfrm>
          <a:prstGeom prst="rect">
            <a:avLst/>
          </a:prstGeom>
          <a:solidFill>
            <a:srgbClr val="121820"/>
          </a:solidFill>
          <a:ln w="9525">
            <a:solidFill>
              <a:srgbClr val="263241"/>
            </a:solidFill>
            <a:prstDash val="solid"/>
          </a:ln>
        </p:spPr>
      </p:sp>
      <p:sp>
        <p:nvSpPr>
          <p:cNvPr id="20" name="Text 16"/>
          <p:cNvSpPr/>
          <p:nvPr/>
        </p:nvSpPr>
        <p:spPr>
          <a:xfrm>
            <a:off x="749808"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01</a:t>
            </a:r>
            <a:endParaRPr lang="ko-KR" sz="1200" dirty="0"/>
          </a:p>
        </p:txBody>
      </p:sp>
      <p:sp>
        <p:nvSpPr>
          <p:cNvPr id="21" name="Text 17"/>
          <p:cNvSpPr/>
          <p:nvPr/>
        </p:nvSpPr>
        <p:spPr>
          <a:xfrm>
            <a:off x="749808"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보여 준다</a:t>
            </a:r>
            <a:endParaRPr lang="ko-KR" sz="1800" dirty="0"/>
          </a:p>
        </p:txBody>
      </p:sp>
      <p:sp>
        <p:nvSpPr>
          <p:cNvPr id="22" name="Text 18"/>
          <p:cNvSpPr/>
          <p:nvPr/>
        </p:nvSpPr>
        <p:spPr>
          <a:xfrm>
            <a:off x="749808"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로봇 손이 입체로 시범</a:t>
            </a:r>
            <a:endParaRPr lang="ko-KR" sz="1200" dirty="0"/>
          </a:p>
        </p:txBody>
      </p:sp>
      <p:sp>
        <p:nvSpPr>
          <p:cNvPr id="23" name="Shape 19"/>
          <p:cNvSpPr/>
          <p:nvPr/>
        </p:nvSpPr>
        <p:spPr>
          <a:xfrm>
            <a:off x="3379394" y="4754880"/>
            <a:ext cx="2602154" cy="1188720"/>
          </a:xfrm>
          <a:prstGeom prst="rect">
            <a:avLst/>
          </a:prstGeom>
          <a:solidFill>
            <a:srgbClr val="121820"/>
          </a:solidFill>
          <a:ln w="9525">
            <a:solidFill>
              <a:srgbClr val="263241"/>
            </a:solidFill>
            <a:prstDash val="solid"/>
          </a:ln>
        </p:spPr>
      </p:sp>
      <p:sp>
        <p:nvSpPr>
          <p:cNvPr id="24" name="Text 20"/>
          <p:cNvSpPr/>
          <p:nvPr/>
        </p:nvSpPr>
        <p:spPr>
          <a:xfrm>
            <a:off x="3580562"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02</a:t>
            </a:r>
            <a:endParaRPr lang="ko-KR" sz="1200" dirty="0"/>
          </a:p>
        </p:txBody>
      </p:sp>
      <p:sp>
        <p:nvSpPr>
          <p:cNvPr id="25" name="Text 21"/>
          <p:cNvSpPr/>
          <p:nvPr/>
        </p:nvSpPr>
        <p:spPr>
          <a:xfrm>
            <a:off x="3580562"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판정한다</a:t>
            </a:r>
            <a:endParaRPr lang="ko-KR" sz="1800" dirty="0"/>
          </a:p>
        </p:txBody>
      </p:sp>
      <p:sp>
        <p:nvSpPr>
          <p:cNvPr id="26" name="Text 22"/>
          <p:cNvSpPr/>
          <p:nvPr/>
        </p:nvSpPr>
        <p:spPr>
          <a:xfrm>
            <a:off x="3580562"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카메라가 손 관절로 판정</a:t>
            </a:r>
            <a:endParaRPr lang="ko-KR" sz="1200" dirty="0"/>
          </a:p>
        </p:txBody>
      </p:sp>
      <p:sp>
        <p:nvSpPr>
          <p:cNvPr id="27" name="Shape 23"/>
          <p:cNvSpPr/>
          <p:nvPr/>
        </p:nvSpPr>
        <p:spPr>
          <a:xfrm>
            <a:off x="6210148" y="4754880"/>
            <a:ext cx="2602154" cy="1188720"/>
          </a:xfrm>
          <a:prstGeom prst="rect">
            <a:avLst/>
          </a:prstGeom>
          <a:solidFill>
            <a:srgbClr val="121820"/>
          </a:solidFill>
          <a:ln w="9525">
            <a:solidFill>
              <a:srgbClr val="263241"/>
            </a:solidFill>
            <a:prstDash val="solid"/>
          </a:ln>
        </p:spPr>
      </p:sp>
      <p:sp>
        <p:nvSpPr>
          <p:cNvPr id="28" name="Text 24"/>
          <p:cNvSpPr/>
          <p:nvPr/>
        </p:nvSpPr>
        <p:spPr>
          <a:xfrm>
            <a:off x="6411316"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03</a:t>
            </a:r>
            <a:endParaRPr lang="ko-KR" sz="1200" dirty="0"/>
          </a:p>
        </p:txBody>
      </p:sp>
      <p:sp>
        <p:nvSpPr>
          <p:cNvPr id="29" name="Text 25"/>
          <p:cNvSpPr/>
          <p:nvPr/>
        </p:nvSpPr>
        <p:spPr>
          <a:xfrm>
            <a:off x="6411316"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돌려준다</a:t>
            </a:r>
            <a:endParaRPr lang="ko-KR" sz="1800" dirty="0"/>
          </a:p>
        </p:txBody>
      </p:sp>
      <p:sp>
        <p:nvSpPr>
          <p:cNvPr id="30" name="Text 26"/>
          <p:cNvSpPr/>
          <p:nvPr/>
        </p:nvSpPr>
        <p:spPr>
          <a:xfrm>
            <a:off x="6411316"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picar · LED가 몸으로 반응</a:t>
            </a:r>
            <a:endParaRPr lang="ko-KR" sz="1200" dirty="0"/>
          </a:p>
        </p:txBody>
      </p:sp>
      <p:sp>
        <p:nvSpPr>
          <p:cNvPr id="31" name="Shape 27"/>
          <p:cNvSpPr/>
          <p:nvPr/>
        </p:nvSpPr>
        <p:spPr>
          <a:xfrm>
            <a:off x="9040901" y="4754880"/>
            <a:ext cx="2602154" cy="1188720"/>
          </a:xfrm>
          <a:prstGeom prst="rect">
            <a:avLst/>
          </a:prstGeom>
          <a:solidFill>
            <a:srgbClr val="121820"/>
          </a:solidFill>
          <a:ln w="9525">
            <a:solidFill>
              <a:srgbClr val="263241"/>
            </a:solidFill>
            <a:prstDash val="solid"/>
          </a:ln>
        </p:spPr>
      </p:sp>
      <p:sp>
        <p:nvSpPr>
          <p:cNvPr id="32" name="Text 28"/>
          <p:cNvSpPr/>
          <p:nvPr/>
        </p:nvSpPr>
        <p:spPr>
          <a:xfrm>
            <a:off x="9242069"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04</a:t>
            </a:r>
            <a:endParaRPr lang="ko-KR" sz="1200" dirty="0"/>
          </a:p>
        </p:txBody>
      </p:sp>
      <p:sp>
        <p:nvSpPr>
          <p:cNvPr id="33" name="Text 29"/>
          <p:cNvSpPr/>
          <p:nvPr/>
        </p:nvSpPr>
        <p:spPr>
          <a:xfrm>
            <a:off x="9242069"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남긴다</a:t>
            </a:r>
            <a:endParaRPr lang="ko-KR" sz="1800" dirty="0"/>
          </a:p>
        </p:txBody>
      </p:sp>
      <p:sp>
        <p:nvSpPr>
          <p:cNvPr id="34" name="Text 30"/>
          <p:cNvSpPr/>
          <p:nvPr/>
        </p:nvSpPr>
        <p:spPr>
          <a:xfrm>
            <a:off x="9242069"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회원별 결과와 수료 기록</a:t>
            </a:r>
            <a:endParaRPr lang="ko-KR"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03   해결 방법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03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시범 → 따라 하기 → 판정 → 물리 피드백, 닫힌 루프</a:t>
            </a:r>
            <a:endParaRPr lang="ko-KR" sz="3000" dirty="0"/>
          </a:p>
        </p:txBody>
      </p:sp>
      <p:sp>
        <p:nvSpPr>
          <p:cNvPr id="7" name="Shape 5"/>
          <p:cNvSpPr/>
          <p:nvPr/>
        </p:nvSpPr>
        <p:spPr>
          <a:xfrm>
            <a:off x="548640" y="1600200"/>
            <a:ext cx="11094415" cy="2891013"/>
          </a:xfrm>
          <a:prstGeom prst="roundRect">
            <a:avLst>
              <a:gd name="adj" fmla="val 1898"/>
            </a:avLst>
          </a:prstGeom>
          <a:solidFill>
            <a:srgbClr val="0A1021"/>
          </a:solidFill>
          <a:ln w="9525">
            <a:solidFill>
              <a:srgbClr val="263241"/>
            </a:solidFill>
            <a:prstDash val="solid"/>
          </a:ln>
        </p:spPr>
      </p:sp>
      <p:pic>
        <p:nvPicPr>
          <p:cNvPr id="8" name="Image 0" descr="C:\temp\claude\c--SafeSign-PhysicalAI\cf383a6a-bb62-4262-9fed-3cfbb9177e6b\scratchpad\deck\fig\loop_t.png">    </p:cNvPr>
          <p:cNvPicPr>
            <a:picLocks noChangeAspect="1"/>
          </p:cNvPicPr>
          <p:nvPr/>
        </p:nvPicPr>
        <p:blipFill>
          <a:blip r:embed="rId1"/>
          <a:stretch>
            <a:fillRect/>
          </a:stretch>
        </p:blipFill>
        <p:spPr>
          <a:xfrm>
            <a:off x="548640" y="1600200"/>
            <a:ext cx="11094415" cy="2891013"/>
          </a:xfrm>
          <a:prstGeom prst="rect">
            <a:avLst/>
          </a:prstGeom>
        </p:spPr>
      </p:pic>
      <p:sp>
        <p:nvSpPr>
          <p:cNvPr id="9" name="Text 6"/>
          <p:cNvSpPr/>
          <p:nvPr/>
        </p:nvSpPr>
        <p:spPr>
          <a:xfrm>
            <a:off x="548640"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시범</a:t>
            </a:r>
            <a:endParaRPr lang="ko-KR" sz="1500" dirty="0"/>
          </a:p>
        </p:txBody>
      </p:sp>
      <p:sp>
        <p:nvSpPr>
          <p:cNvPr id="10" name="Text 7"/>
          <p:cNvSpPr/>
          <p:nvPr/>
        </p:nvSpPr>
        <p:spPr>
          <a:xfrm>
            <a:off x="548640"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AI Hand가 수신호 손모양을 만들어 보여 줍니다. 화면에는 손 관절 예시가 함께 나옵니다.</a:t>
            </a:r>
            <a:endParaRPr lang="ko-KR" sz="1200" dirty="0"/>
          </a:p>
        </p:txBody>
      </p:sp>
      <p:sp>
        <p:nvSpPr>
          <p:cNvPr id="11" name="Text 8"/>
          <p:cNvSpPr/>
          <p:nvPr/>
        </p:nvSpPr>
        <p:spPr>
          <a:xfrm>
            <a:off x="4353458" y="4811253"/>
            <a:ext cx="3484778" cy="320040"/>
          </a:xfrm>
          <a:prstGeom prst="rect">
            <a:avLst/>
          </a:prstGeom>
          <a:noFill/>
          <a:ln/>
        </p:spPr>
        <p:txBody>
          <a:bodyPr wrap="square" lIns="0" tIns="0" rIns="0" bIns="0" rtlCol="0" anchor="ctr"/>
          <a:lstStyle/>
          <a:p>
            <a:pPr indent="0" marL="0">
              <a:buNone/>
            </a:pPr>
            <a:r>
              <a:rPr lang="ko-KR" altLang="en-US" sz="1500" b="1" dirty="0">
                <a:solidFill>
                  <a:srgbClr val="F97316"/>
                </a:solidFill>
                <a:latin typeface="Malgun Gothic" pitchFamily="34" charset="0"/>
                <a:ea typeface="Malgun Gothic" pitchFamily="34" charset="-122"/>
                <a:cs typeface="Malgun Gothic" pitchFamily="34" charset="-120"/>
              </a:rPr>
              <a:t>따라 하기 + 판정</a:t>
            </a:r>
            <a:endParaRPr lang="ko-KR" sz="1500" dirty="0"/>
          </a:p>
        </p:txBody>
      </p:sp>
      <p:sp>
        <p:nvSpPr>
          <p:cNvPr id="12" name="Text 9"/>
          <p:cNvSpPr/>
          <p:nvPr/>
        </p:nvSpPr>
        <p:spPr>
          <a:xfrm>
            <a:off x="4353458"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학습자가 확인 버튼을 누른 뒤부터 판정합니다. 확신이 없으면 오답 대신 ‘다시 해 주세요’로 보류합니다.</a:t>
            </a:r>
            <a:endParaRPr lang="ko-KR" sz="1200" dirty="0"/>
          </a:p>
        </p:txBody>
      </p:sp>
      <p:sp>
        <p:nvSpPr>
          <p:cNvPr id="13" name="Text 10"/>
          <p:cNvSpPr/>
          <p:nvPr/>
        </p:nvSpPr>
        <p:spPr>
          <a:xfrm>
            <a:off x="8158277"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물리 피드백</a:t>
            </a:r>
            <a:endParaRPr lang="ko-KR" sz="1500" dirty="0"/>
          </a:p>
        </p:txBody>
      </p:sp>
      <p:sp>
        <p:nvSpPr>
          <p:cNvPr id="14" name="Text 11"/>
          <p:cNvSpPr/>
          <p:nvPr/>
        </p:nvSpPr>
        <p:spPr>
          <a:xfrm>
            <a:off x="8158277"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정답이면 picar가 그 신호대로 움직이고 micro:bit에 O가 뜹니다. 오답이면 micro:bit에 X가 뜨고, AI Hand가 잡고 있는 시범 자세를 보며 다시 따라 합니다.</a:t>
            </a:r>
            <a:endParaRPr lang="ko-KR" sz="1200" dirty="0"/>
          </a:p>
        </p:txBody>
      </p:sp>
      <p:sp>
        <p:nvSpPr>
          <p:cNvPr id="15" name="Text 12"/>
          <p:cNvSpPr/>
          <p:nvPr/>
        </p:nvSpPr>
        <p:spPr>
          <a:xfrm>
            <a:off x="548640" y="5943600"/>
            <a:ext cx="1109441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인식 결과가 화면 글자가 아니라 로봇의 움직임으로 돌아온다. 이것이 Physical AI인 이유입니다.</a:t>
            </a:r>
            <a:endParaRPr lang="ko-KR"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04   구현 · 시스템 구성</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04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보드 2대, 장치 3종</a:t>
            </a:r>
            <a:endParaRPr lang="ko-KR" sz="3000" dirty="0"/>
          </a:p>
        </p:txBody>
      </p:sp>
      <p:sp>
        <p:nvSpPr>
          <p:cNvPr id="7" name="Shape 5"/>
          <p:cNvSpPr/>
          <p:nvPr/>
        </p:nvSpPr>
        <p:spPr>
          <a:xfrm>
            <a:off x="548640" y="1536192"/>
            <a:ext cx="8001000" cy="4354070"/>
          </a:xfrm>
          <a:prstGeom prst="roundRect">
            <a:avLst>
              <a:gd name="adj" fmla="val 1260"/>
            </a:avLst>
          </a:prstGeom>
          <a:solidFill>
            <a:srgbClr val="0A1021"/>
          </a:solidFill>
          <a:ln w="9525">
            <a:solidFill>
              <a:srgbClr val="263241"/>
            </a:solidFill>
            <a:prstDash val="solid"/>
          </a:ln>
        </p:spPr>
      </p:sp>
      <p:pic>
        <p:nvPicPr>
          <p:cNvPr id="8" name="Image 0" descr="C:\temp\claude\c--SafeSign-PhysicalAI\cf383a6a-bb62-4262-9fed-3cfbb9177e6b\scratchpad\deck\fig\system_t.png">    </p:cNvPr>
          <p:cNvPicPr>
            <a:picLocks noChangeAspect="1"/>
          </p:cNvPicPr>
          <p:nvPr/>
        </p:nvPicPr>
        <p:blipFill>
          <a:blip r:embed="rId1"/>
          <a:stretch>
            <a:fillRect/>
          </a:stretch>
        </p:blipFill>
        <p:spPr>
          <a:xfrm>
            <a:off x="548640" y="1536192"/>
            <a:ext cx="8001000" cy="4354070"/>
          </a:xfrm>
          <a:prstGeom prst="rect">
            <a:avLst/>
          </a:prstGeom>
        </p:spPr>
      </p:pic>
      <p:sp>
        <p:nvSpPr>
          <p:cNvPr id="9" name="Shape 6"/>
          <p:cNvSpPr/>
          <p:nvPr/>
        </p:nvSpPr>
        <p:spPr>
          <a:xfrm>
            <a:off x="8915400" y="1536192"/>
            <a:ext cx="2727655" cy="1371600"/>
          </a:xfrm>
          <a:prstGeom prst="rect">
            <a:avLst/>
          </a:prstGeom>
          <a:solidFill>
            <a:srgbClr val="121820"/>
          </a:solidFill>
          <a:ln w="9525">
            <a:solidFill>
              <a:srgbClr val="263241"/>
            </a:solidFill>
            <a:prstDash val="solid"/>
          </a:ln>
        </p:spPr>
      </p:sp>
      <p:sp>
        <p:nvSpPr>
          <p:cNvPr id="10" name="Text 7"/>
          <p:cNvSpPr/>
          <p:nvPr/>
        </p:nvSpPr>
        <p:spPr>
          <a:xfrm>
            <a:off x="9116568" y="167335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CR-01</a:t>
            </a:r>
            <a:endParaRPr lang="ko-KR" sz="1000" dirty="0"/>
          </a:p>
        </p:txBody>
      </p:sp>
      <p:sp>
        <p:nvSpPr>
          <p:cNvPr id="11" name="Text 8"/>
          <p:cNvSpPr/>
          <p:nvPr/>
        </p:nvSpPr>
        <p:spPr>
          <a:xfrm>
            <a:off x="9116568" y="192938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picar를 별도 보드로</a:t>
            </a:r>
            <a:endParaRPr lang="ko-KR" sz="1300" dirty="0"/>
          </a:p>
        </p:txBody>
      </p:sp>
      <p:sp>
        <p:nvSpPr>
          <p:cNvPr id="12" name="Text 9"/>
          <p:cNvSpPr/>
          <p:nvPr/>
        </p:nvSpPr>
        <p:spPr>
          <a:xfrm>
            <a:off x="9116568" y="224942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picar가 달리면 카메라도 흔들려 판정할 수 없습니다. 카메라는 학습자 앞 RPi5에 고정, picar는 RPi4B가 Wi-Fi로 받습니다.</a:t>
            </a:r>
            <a:endParaRPr lang="ko-KR" sz="950" dirty="0"/>
          </a:p>
        </p:txBody>
      </p:sp>
      <p:sp>
        <p:nvSpPr>
          <p:cNvPr id="13" name="Shape 10"/>
          <p:cNvSpPr/>
          <p:nvPr/>
        </p:nvSpPr>
        <p:spPr>
          <a:xfrm>
            <a:off x="8915400" y="3044952"/>
            <a:ext cx="2727655" cy="1371600"/>
          </a:xfrm>
          <a:prstGeom prst="rect">
            <a:avLst/>
          </a:prstGeom>
          <a:solidFill>
            <a:srgbClr val="121820"/>
          </a:solidFill>
          <a:ln w="9525">
            <a:solidFill>
              <a:srgbClr val="263241"/>
            </a:solidFill>
            <a:prstDash val="solid"/>
          </a:ln>
        </p:spPr>
      </p:sp>
      <p:sp>
        <p:nvSpPr>
          <p:cNvPr id="14" name="Text 11"/>
          <p:cNvSpPr/>
          <p:nvPr/>
        </p:nvSpPr>
        <p:spPr>
          <a:xfrm>
            <a:off x="9116568" y="318211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CR-02</a:t>
            </a:r>
            <a:endParaRPr lang="ko-KR" sz="1000" dirty="0"/>
          </a:p>
        </p:txBody>
      </p:sp>
      <p:sp>
        <p:nvSpPr>
          <p:cNvPr id="15" name="Text 12"/>
          <p:cNvSpPr/>
          <p:nvPr/>
        </p:nvSpPr>
        <p:spPr>
          <a:xfrm>
            <a:off x="9116568" y="343814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micro:bit는 BLE로</a:t>
            </a:r>
            <a:endParaRPr lang="ko-KR" sz="1300" dirty="0"/>
          </a:p>
        </p:txBody>
      </p:sp>
      <p:sp>
        <p:nvSpPr>
          <p:cNvPr id="16" name="Text 13"/>
          <p:cNvSpPr/>
          <p:nvPr/>
        </p:nvSpPr>
        <p:spPr>
          <a:xfrm>
            <a:off x="9116568" y="375818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UART가 하나뿐이라 서보를 켜면 USB 시리얼이 끊겼습니다. BLE(Nordic UART)로 바꿔 서보와 통신을 함께 씁니다.</a:t>
            </a:r>
            <a:endParaRPr lang="ko-KR" sz="950" dirty="0"/>
          </a:p>
        </p:txBody>
      </p:sp>
      <p:sp>
        <p:nvSpPr>
          <p:cNvPr id="17" name="Shape 14"/>
          <p:cNvSpPr/>
          <p:nvPr/>
        </p:nvSpPr>
        <p:spPr>
          <a:xfrm>
            <a:off x="8915400" y="4553712"/>
            <a:ext cx="2727655" cy="1371600"/>
          </a:xfrm>
          <a:prstGeom prst="rect">
            <a:avLst/>
          </a:prstGeom>
          <a:solidFill>
            <a:srgbClr val="121820"/>
          </a:solidFill>
          <a:ln w="9525">
            <a:solidFill>
              <a:srgbClr val="263241"/>
            </a:solidFill>
            <a:prstDash val="solid"/>
          </a:ln>
        </p:spPr>
      </p:sp>
      <p:sp>
        <p:nvSpPr>
          <p:cNvPr id="18" name="Text 15"/>
          <p:cNvSpPr/>
          <p:nvPr/>
        </p:nvSpPr>
        <p:spPr>
          <a:xfrm>
            <a:off x="9116568" y="469087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portal</a:t>
            </a:r>
            <a:endParaRPr lang="ko-KR" sz="1000" dirty="0"/>
          </a:p>
        </p:txBody>
      </p:sp>
      <p:sp>
        <p:nvSpPr>
          <p:cNvPr id="19" name="Text 16"/>
          <p:cNvSpPr/>
          <p:nvPr/>
        </p:nvSpPr>
        <p:spPr>
          <a:xfrm>
            <a:off x="9116568" y="494690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회사 사이트도 같은 회원 DB</a:t>
            </a:r>
            <a:endParaRPr lang="ko-KR" sz="1300" dirty="0"/>
          </a:p>
        </p:txBody>
      </p:sp>
      <p:sp>
        <p:nvSpPr>
          <p:cNvPr id="20" name="Text 17"/>
          <p:cNvSpPr/>
          <p:nvPr/>
        </p:nvSpPr>
        <p:spPr>
          <a:xfrm>
            <a:off x="9116568" y="526694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RPi5 없이 가입하고 수료증을 다시 받습니다. DB 스키마는 바꾸지 않았습니다.</a:t>
            </a:r>
            <a:endParaRPr lang="ko-KR"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05   구현 · 인식과 판정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05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손 관절 21점 → 특징 23개 → SVM, 확신이 없으면 보류</a:t>
            </a:r>
            <a:endParaRPr lang="ko-KR" sz="3000" dirty="0"/>
          </a:p>
        </p:txBody>
      </p:sp>
      <p:sp>
        <p:nvSpPr>
          <p:cNvPr id="7" name="Shape 5"/>
          <p:cNvSpPr/>
          <p:nvPr/>
        </p:nvSpPr>
        <p:spPr>
          <a:xfrm>
            <a:off x="883768" y="1554480"/>
            <a:ext cx="10424160" cy="3246120"/>
          </a:xfrm>
          <a:prstGeom prst="roundRect">
            <a:avLst>
              <a:gd name="adj" fmla="val 1690"/>
            </a:avLst>
          </a:prstGeom>
          <a:solidFill>
            <a:srgbClr val="0A1021"/>
          </a:solidFill>
          <a:ln w="9525">
            <a:solidFill>
              <a:srgbClr val="263241"/>
            </a:solidFill>
            <a:prstDash val="solid"/>
          </a:ln>
        </p:spPr>
      </p:sp>
      <p:pic>
        <p:nvPicPr>
          <p:cNvPr id="8" name="Image 0" descr="C:\temp\claude\c--SafeSign-PhysicalAI\cf383a6a-bb62-4262-9fed-3cfbb9177e6b\scratchpad\deck\fig\vision_t.png">    </p:cNvPr>
          <p:cNvPicPr>
            <a:picLocks noChangeAspect="1"/>
          </p:cNvPicPr>
          <p:nvPr/>
        </p:nvPicPr>
        <p:blipFill>
          <a:blip r:embed="rId1"/>
          <a:stretch>
            <a:fillRect/>
          </a:stretch>
        </p:blipFill>
        <p:spPr>
          <a:xfrm>
            <a:off x="883768" y="1554480"/>
            <a:ext cx="10424160" cy="3246120"/>
          </a:xfrm>
          <a:prstGeom prst="rect">
            <a:avLst/>
          </a:prstGeom>
        </p:spPr>
      </p:pic>
      <p:sp>
        <p:nvSpPr>
          <p:cNvPr id="9" name="Text 6"/>
          <p:cNvSpPr/>
          <p:nvPr/>
        </p:nvSpPr>
        <p:spPr>
          <a:xfrm>
            <a:off x="5486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21점</a:t>
            </a:r>
            <a:endParaRPr lang="ko-KR" sz="3000" dirty="0"/>
          </a:p>
        </p:txBody>
      </p:sp>
      <p:sp>
        <p:nvSpPr>
          <p:cNvPr id="10" name="Text 7"/>
          <p:cNvSpPr/>
          <p:nvPr/>
        </p:nvSpPr>
        <p:spPr>
          <a:xfrm>
            <a:off x="5486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MediaPipe 손 관절</a:t>
            </a:r>
            <a:endParaRPr lang="ko-KR" sz="1300" dirty="0"/>
          </a:p>
        </p:txBody>
      </p:sp>
      <p:sp>
        <p:nvSpPr>
          <p:cNvPr id="11" name="Text 8"/>
          <p:cNvSpPr/>
          <p:nvPr/>
        </p:nvSpPr>
        <p:spPr>
          <a:xfrm>
            <a:off x="5486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x · y · z 좌표</a:t>
            </a:r>
            <a:endParaRPr lang="ko-KR" sz="1100" dirty="0"/>
          </a:p>
        </p:txBody>
      </p:sp>
      <p:sp>
        <p:nvSpPr>
          <p:cNvPr id="12" name="Text 9"/>
          <p:cNvSpPr/>
          <p:nvPr/>
        </p:nvSpPr>
        <p:spPr>
          <a:xfrm>
            <a:off x="32918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23개</a:t>
            </a:r>
            <a:endParaRPr lang="ko-KR" sz="3000" dirty="0"/>
          </a:p>
        </p:txBody>
      </p:sp>
      <p:sp>
        <p:nvSpPr>
          <p:cNvPr id="13" name="Text 10"/>
          <p:cNvSpPr/>
          <p:nvPr/>
        </p:nvSpPr>
        <p:spPr>
          <a:xfrm>
            <a:off x="32918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관절 각도 · 거리 특징</a:t>
            </a:r>
            <a:endParaRPr lang="ko-KR" sz="1300" dirty="0"/>
          </a:p>
        </p:txBody>
      </p:sp>
      <p:sp>
        <p:nvSpPr>
          <p:cNvPr id="14" name="Text 11"/>
          <p:cNvSpPr/>
          <p:nvPr/>
        </p:nvSpPr>
        <p:spPr>
          <a:xfrm>
            <a:off x="32918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좌우손 통일 후 계산</a:t>
            </a:r>
            <a:endParaRPr lang="ko-KR" sz="1100" dirty="0"/>
          </a:p>
        </p:txBody>
      </p:sp>
      <p:sp>
        <p:nvSpPr>
          <p:cNvPr id="15" name="Text 12"/>
          <p:cNvSpPr/>
          <p:nvPr/>
        </p:nvSpPr>
        <p:spPr>
          <a:xfrm>
            <a:off x="60350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97316"/>
                </a:solidFill>
                <a:latin typeface="Malgun Gothic" pitchFamily="34" charset="0"/>
                <a:ea typeface="Malgun Gothic" pitchFamily="34" charset="-122"/>
                <a:cs typeface="Malgun Gothic" pitchFamily="34" charset="-120"/>
              </a:rPr>
              <a:t>τ 0.75</a:t>
            </a:r>
            <a:endParaRPr lang="ko-KR" sz="3000" dirty="0"/>
          </a:p>
        </p:txBody>
      </p:sp>
      <p:sp>
        <p:nvSpPr>
          <p:cNvPr id="16" name="Text 13"/>
          <p:cNvSpPr/>
          <p:nvPr/>
        </p:nvSpPr>
        <p:spPr>
          <a:xfrm>
            <a:off x="60350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판정 기준 확률</a:t>
            </a:r>
            <a:endParaRPr lang="ko-KR" sz="1300" dirty="0"/>
          </a:p>
        </p:txBody>
      </p:sp>
      <p:sp>
        <p:nvSpPr>
          <p:cNvPr id="17" name="Text 14"/>
          <p:cNvSpPr/>
          <p:nvPr/>
        </p:nvSpPr>
        <p:spPr>
          <a:xfrm>
            <a:off x="60350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3프레임 연속이면 확정</a:t>
            </a:r>
            <a:endParaRPr lang="ko-KR" sz="1100" dirty="0"/>
          </a:p>
        </p:txBody>
      </p:sp>
      <p:sp>
        <p:nvSpPr>
          <p:cNvPr id="18" name="Shape 15"/>
          <p:cNvSpPr/>
          <p:nvPr/>
        </p:nvSpPr>
        <p:spPr>
          <a:xfrm>
            <a:off x="8778240" y="5074920"/>
            <a:ext cx="2864815" cy="1280160"/>
          </a:xfrm>
          <a:prstGeom prst="rect">
            <a:avLst/>
          </a:prstGeom>
          <a:solidFill>
            <a:srgbClr val="121820"/>
          </a:solidFill>
          <a:ln w="9525">
            <a:solidFill>
              <a:srgbClr val="263241"/>
            </a:solidFill>
            <a:prstDash val="solid"/>
          </a:ln>
        </p:spPr>
      </p:sp>
      <p:sp>
        <p:nvSpPr>
          <p:cNvPr id="19" name="Text 16"/>
          <p:cNvSpPr/>
          <p:nvPr/>
        </p:nvSpPr>
        <p:spPr>
          <a:xfrm>
            <a:off x="8979408" y="5193792"/>
            <a:ext cx="2499055" cy="292608"/>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왜 딥러닝이 아니라 SVM인가</a:t>
            </a:r>
            <a:endParaRPr lang="ko-KR" sz="1300" dirty="0"/>
          </a:p>
        </p:txBody>
      </p:sp>
      <p:sp>
        <p:nvSpPr>
          <p:cNvPr id="20" name="Text 17"/>
          <p:cNvSpPr/>
          <p:nvPr/>
        </p:nvSpPr>
        <p:spPr>
          <a:xfrm>
            <a:off x="8979408" y="5532120"/>
            <a:ext cx="2499055" cy="77724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적은 학습 데이터로 되고, RPi5에서 실시간으로 돌고, 왜 그렇게 판정했는지 설명할 수 있습니다.</a:t>
            </a:r>
            <a:endParaRPr lang="ko-KR"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txBody>
          <a:bodyPr/>
          <a:p/>
        </p:txBody>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06   구현 · 교육 과정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06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 7종: 크레인 표준 재해석 5종 + 자체 지정 2종</a:t>
            </a:r>
            <a:endParaRPr lang="ko-KR" sz="3000" dirty="0"/>
          </a:p>
        </p:txBody>
      </p:sp>
      <p:sp>
        <p:nvSpPr>
          <p:cNvPr id="7" name="Text 5"/>
          <p:cNvSpPr/>
          <p:nvPr/>
        </p:nvSpPr>
        <p:spPr>
          <a:xfrm>
            <a:off x="548640" y="1572768"/>
            <a:ext cx="7166937"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크레인 표준신호를 손 모양으로 재해석 (표준은 팔 동작, 서행 · 확인 완료는 다름)</a:t>
            </a:r>
            <a:endParaRPr lang="ko-KR" sz="1200" dirty="0"/>
          </a:p>
        </p:txBody>
      </p:sp>
      <p:sp>
        <p:nvSpPr>
          <p:cNvPr id="8" name="Text 6"/>
          <p:cNvSpPr/>
          <p:nvPr/>
        </p:nvSpPr>
        <p:spPr>
          <a:xfrm>
            <a:off x="8629977" y="1572768"/>
            <a:ext cx="2866775"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자체 지정</a:t>
            </a:r>
            <a:endParaRPr lang="ko-KR" sz="1200" dirty="0"/>
          </a:p>
        </p:txBody>
      </p:sp>
      <p:sp>
        <p:nvSpPr>
          <p:cNvPr id="9" name="Shape 7"/>
          <p:cNvSpPr/>
          <p:nvPr/>
        </p:nvSpPr>
        <p:spPr>
          <a:xfrm>
            <a:off x="548640" y="2011680"/>
            <a:ext cx="1433387" cy="2896427"/>
          </a:xfrm>
          <a:prstGeom prst="rect">
            <a:avLst/>
          </a:prstGeom>
          <a:solidFill>
            <a:srgbClr val="121820"/>
          </a:solidFill>
          <a:ln w="9525">
            <a:solidFill>
              <a:srgbClr val="263241"/>
            </a:solidFill>
            <a:prstDash val="solid"/>
          </a:ln>
        </p:spPr>
        <p:txBody>
          <a:bodyPr/>
          <a:p/>
        </p:txBody>
      </p:sp>
      <p:sp>
        <p:nvSpPr>
          <p:cNvPr id="10" name="Text 8"/>
          <p:cNvSpPr/>
          <p:nvPr/>
        </p:nvSpPr>
        <p:spPr>
          <a:xfrm>
            <a:off x="685800"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01</a:t>
            </a:r>
            <a:endParaRPr lang="ko-KR" sz="1000" dirty="0"/>
          </a:p>
        </p:txBody>
      </p:sp>
      <p:pic>
        <p:nvPicPr>
          <p:cNvPr id="11" name="Image 0" descr="preencoded.png">    </p:cNvPr>
          <p:cNvPicPr>
            <a:picLocks noChangeAspect="1"/>
          </p:cNvPicPr>
          <p:nvPr/>
        </p:nvPicPr>
        <p:blipFill>
          <a:blip r:embed="rId1"/>
          <a:stretch>
            <a:fillRect/>
          </a:stretch>
        </p:blipFill>
        <p:spPr>
          <a:xfrm>
            <a:off x="640080" y="2286000"/>
            <a:ext cx="1250507" cy="1250507"/>
          </a:xfrm>
          <a:prstGeom prst="rect">
            <a:avLst/>
          </a:prstGeom>
        </p:spPr>
      </p:pic>
      <p:sp>
        <p:nvSpPr>
          <p:cNvPr id="12" name="Text 9"/>
          <p:cNvSpPr/>
          <p:nvPr/>
        </p:nvSpPr>
        <p:spPr>
          <a:xfrm>
            <a:off x="685800"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정지</a:t>
            </a:r>
            <a:endParaRPr lang="ko-KR" sz="1500" dirty="0"/>
          </a:p>
        </p:txBody>
      </p:sp>
      <p:sp>
        <p:nvSpPr>
          <p:cNvPr id="13" name="Text 10"/>
          <p:cNvSpPr/>
          <p:nvPr/>
        </p:nvSpPr>
        <p:spPr>
          <a:xfrm>
            <a:off x="685800"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다섯 손가락 펴기</a:t>
            </a:r>
            <a:endParaRPr lang="ko-KR" sz="1100" dirty="0"/>
          </a:p>
        </p:txBody>
      </p:sp>
      <p:sp>
        <p:nvSpPr>
          <p:cNvPr id="14" name="Text 11"/>
          <p:cNvSpPr/>
          <p:nvPr/>
        </p:nvSpPr>
        <p:spPr>
          <a:xfrm>
            <a:off x="685800"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적색 LED</a:t>
            </a:r>
            <a:endParaRPr lang="ko-KR" sz="1000" dirty="0"/>
          </a:p>
        </p:txBody>
      </p:sp>
      <p:sp>
        <p:nvSpPr>
          <p:cNvPr id="15" name="Shape 12"/>
          <p:cNvSpPr/>
          <p:nvPr/>
        </p:nvSpPr>
        <p:spPr>
          <a:xfrm>
            <a:off x="2128331" y="2011680"/>
            <a:ext cx="1433387" cy="2896427"/>
          </a:xfrm>
          <a:prstGeom prst="rect">
            <a:avLst/>
          </a:prstGeom>
          <a:solidFill>
            <a:srgbClr val="121820"/>
          </a:solidFill>
          <a:ln w="9525">
            <a:solidFill>
              <a:srgbClr val="263241"/>
            </a:solidFill>
            <a:prstDash val="solid"/>
          </a:ln>
        </p:spPr>
        <p:txBody>
          <a:bodyPr/>
          <a:p/>
        </p:txBody>
      </p:sp>
      <p:sp>
        <p:nvSpPr>
          <p:cNvPr id="16" name="Text 13"/>
          <p:cNvSpPr/>
          <p:nvPr/>
        </p:nvSpPr>
        <p:spPr>
          <a:xfrm>
            <a:off x="2265491"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02</a:t>
            </a:r>
            <a:endParaRPr lang="ko-KR" sz="1000" dirty="0"/>
          </a:p>
        </p:txBody>
      </p:sp>
      <p:pic>
        <p:nvPicPr>
          <p:cNvPr id="17" name="Image 1" descr="preencoded.png">    </p:cNvPr>
          <p:cNvPicPr>
            <a:picLocks noChangeAspect="1"/>
          </p:cNvPicPr>
          <p:nvPr/>
        </p:nvPicPr>
        <p:blipFill>
          <a:blip r:embed="rId2"/>
          <a:stretch>
            <a:fillRect/>
          </a:stretch>
        </p:blipFill>
        <p:spPr>
          <a:xfrm>
            <a:off x="2219771" y="2286000"/>
            <a:ext cx="1250507" cy="1250507"/>
          </a:xfrm>
          <a:prstGeom prst="rect">
            <a:avLst/>
          </a:prstGeom>
        </p:spPr>
      </p:pic>
      <p:sp>
        <p:nvSpPr>
          <p:cNvPr id="18" name="Text 14"/>
          <p:cNvSpPr/>
          <p:nvPr/>
        </p:nvSpPr>
        <p:spPr>
          <a:xfrm>
            <a:off x="2265491"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서행</a:t>
            </a:r>
            <a:endParaRPr lang="ko-KR" sz="1500" dirty="0"/>
          </a:p>
        </p:txBody>
      </p:sp>
      <p:sp>
        <p:nvSpPr>
          <p:cNvPr id="19" name="Text 15"/>
          <p:cNvSpPr/>
          <p:nvPr/>
        </p:nvSpPr>
        <p:spPr>
          <a:xfrm>
            <a:off x="2265491"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 + 중지</a:t>
            </a:r>
            <a:endParaRPr lang="ko-KR" sz="1100" dirty="0"/>
          </a:p>
        </p:txBody>
      </p:sp>
      <p:sp>
        <p:nvSpPr>
          <p:cNvPr id="20" name="Text 16"/>
          <p:cNvSpPr/>
          <p:nvPr/>
        </p:nvSpPr>
        <p:spPr>
          <a:xfrm>
            <a:off x="2265491"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감속 주행</a:t>
            </a:r>
            <a:endParaRPr lang="ko-KR" sz="1000" dirty="0"/>
          </a:p>
        </p:txBody>
      </p:sp>
      <p:sp>
        <p:nvSpPr>
          <p:cNvPr id="21" name="Shape 17"/>
          <p:cNvSpPr/>
          <p:nvPr/>
        </p:nvSpPr>
        <p:spPr>
          <a:xfrm>
            <a:off x="3708023" y="2011680"/>
            <a:ext cx="1433387" cy="2896427"/>
          </a:xfrm>
          <a:prstGeom prst="rect">
            <a:avLst/>
          </a:prstGeom>
          <a:solidFill>
            <a:srgbClr val="121820"/>
          </a:solidFill>
          <a:ln w="9525">
            <a:solidFill>
              <a:srgbClr val="263241"/>
            </a:solidFill>
            <a:prstDash val="solid"/>
          </a:ln>
        </p:spPr>
        <p:txBody>
          <a:bodyPr/>
          <a:p/>
        </p:txBody>
      </p:sp>
      <p:sp>
        <p:nvSpPr>
          <p:cNvPr id="22" name="Text 18"/>
          <p:cNvSpPr/>
          <p:nvPr/>
        </p:nvSpPr>
        <p:spPr>
          <a:xfrm>
            <a:off x="3845183"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03</a:t>
            </a:r>
            <a:endParaRPr lang="ko-KR" sz="1000" dirty="0"/>
          </a:p>
        </p:txBody>
      </p:sp>
      <p:pic>
        <p:nvPicPr>
          <p:cNvPr id="23" name="Image 2" descr="preencoded.png">    </p:cNvPr>
          <p:cNvPicPr>
            <a:picLocks noChangeAspect="1"/>
          </p:cNvPicPr>
          <p:nvPr/>
        </p:nvPicPr>
        <p:blipFill>
          <a:blip r:embed="rId3"/>
          <a:stretch>
            <a:fillRect/>
          </a:stretch>
        </p:blipFill>
        <p:spPr>
          <a:xfrm>
            <a:off x="3799463" y="2286000"/>
            <a:ext cx="1250507" cy="1250507"/>
          </a:xfrm>
          <a:prstGeom prst="rect">
            <a:avLst/>
          </a:prstGeom>
        </p:spPr>
      </p:pic>
      <p:sp>
        <p:nvSpPr>
          <p:cNvPr id="24" name="Text 19"/>
          <p:cNvSpPr/>
          <p:nvPr/>
        </p:nvSpPr>
        <p:spPr>
          <a:xfrm>
            <a:off x="3845183"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좌회전 유도</a:t>
            </a:r>
            <a:endParaRPr lang="ko-KR" sz="1500" dirty="0"/>
          </a:p>
        </p:txBody>
      </p:sp>
      <p:sp>
        <p:nvSpPr>
          <p:cNvPr id="25" name="Text 20"/>
          <p:cNvSpPr/>
          <p:nvPr/>
        </p:nvSpPr>
        <p:spPr>
          <a:xfrm>
            <a:off x="3845183"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검지</a:t>
            </a:r>
            <a:endParaRPr lang="ko-KR" sz="1100" dirty="0"/>
          </a:p>
        </p:txBody>
      </p:sp>
      <p:sp>
        <p:nvSpPr>
          <p:cNvPr id="26" name="Text 21"/>
          <p:cNvSpPr/>
          <p:nvPr/>
        </p:nvSpPr>
        <p:spPr>
          <a:xfrm>
            <a:off x="3845183"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좌회전 주행</a:t>
            </a:r>
            <a:endParaRPr lang="ko-KR" sz="1000" dirty="0"/>
          </a:p>
        </p:txBody>
      </p:sp>
      <p:sp>
        <p:nvSpPr>
          <p:cNvPr id="27" name="Shape 22"/>
          <p:cNvSpPr/>
          <p:nvPr/>
        </p:nvSpPr>
        <p:spPr>
          <a:xfrm>
            <a:off x="5287714" y="2011680"/>
            <a:ext cx="1433387" cy="2896427"/>
          </a:xfrm>
          <a:prstGeom prst="rect">
            <a:avLst/>
          </a:prstGeom>
          <a:solidFill>
            <a:srgbClr val="121820"/>
          </a:solidFill>
          <a:ln w="9525">
            <a:solidFill>
              <a:srgbClr val="263241"/>
            </a:solidFill>
            <a:prstDash val="solid"/>
          </a:ln>
        </p:spPr>
        <p:txBody>
          <a:bodyPr/>
          <a:p/>
        </p:txBody>
      </p:sp>
      <p:sp>
        <p:nvSpPr>
          <p:cNvPr id="28" name="Text 23"/>
          <p:cNvSpPr/>
          <p:nvPr/>
        </p:nvSpPr>
        <p:spPr>
          <a:xfrm>
            <a:off x="5424874"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04</a:t>
            </a:r>
            <a:endParaRPr lang="ko-KR" sz="1000" dirty="0"/>
          </a:p>
        </p:txBody>
      </p:sp>
      <p:pic>
        <p:nvPicPr>
          <p:cNvPr id="29" name="Image 3" descr="preencoded.png">    </p:cNvPr>
          <p:cNvPicPr>
            <a:picLocks noChangeAspect="1"/>
          </p:cNvPicPr>
          <p:nvPr/>
        </p:nvPicPr>
        <p:blipFill>
          <a:blip r:embed="rId4"/>
          <a:stretch>
            <a:fillRect/>
          </a:stretch>
        </p:blipFill>
        <p:spPr>
          <a:xfrm>
            <a:off x="5379154" y="2286000"/>
            <a:ext cx="1250507" cy="1250507"/>
          </a:xfrm>
          <a:prstGeom prst="rect">
            <a:avLst/>
          </a:prstGeom>
        </p:spPr>
      </p:pic>
      <p:sp>
        <p:nvSpPr>
          <p:cNvPr id="30" name="Text 24"/>
          <p:cNvSpPr/>
          <p:nvPr/>
        </p:nvSpPr>
        <p:spPr>
          <a:xfrm>
            <a:off x="5424874"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우회전 유도</a:t>
            </a:r>
            <a:endParaRPr lang="ko-KR" sz="1500" dirty="0"/>
          </a:p>
        </p:txBody>
      </p:sp>
      <p:sp>
        <p:nvSpPr>
          <p:cNvPr id="31" name="Text 25"/>
          <p:cNvSpPr/>
          <p:nvPr/>
        </p:nvSpPr>
        <p:spPr>
          <a:xfrm>
            <a:off x="5424874"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소지</a:t>
            </a:r>
            <a:endParaRPr lang="ko-KR" sz="1100" dirty="0"/>
          </a:p>
        </p:txBody>
      </p:sp>
      <p:sp>
        <p:nvSpPr>
          <p:cNvPr id="32" name="Text 26"/>
          <p:cNvSpPr/>
          <p:nvPr/>
        </p:nvSpPr>
        <p:spPr>
          <a:xfrm>
            <a:off x="5424874"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우회전 주행</a:t>
            </a:r>
            <a:endParaRPr lang="ko-KR" sz="1000" dirty="0"/>
          </a:p>
        </p:txBody>
      </p:sp>
      <p:sp>
        <p:nvSpPr>
          <p:cNvPr id="33" name="Shape 27"/>
          <p:cNvSpPr/>
          <p:nvPr/>
        </p:nvSpPr>
        <p:spPr>
          <a:xfrm>
            <a:off x="6867405" y="2011680"/>
            <a:ext cx="1433387" cy="2896427"/>
          </a:xfrm>
          <a:prstGeom prst="rect">
            <a:avLst/>
          </a:prstGeom>
          <a:solidFill>
            <a:srgbClr val="121820"/>
          </a:solidFill>
          <a:ln w="9525">
            <a:solidFill>
              <a:srgbClr val="263241"/>
            </a:solidFill>
            <a:prstDash val="solid"/>
          </a:ln>
        </p:spPr>
        <p:txBody>
          <a:bodyPr/>
          <a:p/>
        </p:txBody>
      </p:sp>
      <p:sp>
        <p:nvSpPr>
          <p:cNvPr id="34" name="Text 28"/>
          <p:cNvSpPr/>
          <p:nvPr/>
        </p:nvSpPr>
        <p:spPr>
          <a:xfrm>
            <a:off x="7004565"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05</a:t>
            </a:r>
            <a:endParaRPr lang="ko-KR" sz="1000" dirty="0"/>
          </a:p>
        </p:txBody>
      </p:sp>
      <p:pic>
        <p:nvPicPr>
          <p:cNvPr id="35" name="Image 4" descr="preencoded.png">    </p:cNvPr>
          <p:cNvPicPr>
            <a:picLocks noChangeAspect="1"/>
          </p:cNvPicPr>
          <p:nvPr/>
        </p:nvPicPr>
        <p:blipFill>
          <a:blip r:embed="rId5"/>
          <a:stretch>
            <a:fillRect/>
          </a:stretch>
        </p:blipFill>
        <p:spPr>
          <a:xfrm>
            <a:off x="6958845" y="2286000"/>
            <a:ext cx="1250507" cy="1250507"/>
          </a:xfrm>
          <a:prstGeom prst="rect">
            <a:avLst/>
          </a:prstGeom>
        </p:spPr>
      </p:pic>
      <p:sp>
        <p:nvSpPr>
          <p:cNvPr id="36" name="Text 29"/>
          <p:cNvSpPr/>
          <p:nvPr/>
        </p:nvSpPr>
        <p:spPr>
          <a:xfrm>
            <a:off x="7004565"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확인 완료</a:t>
            </a:r>
            <a:endParaRPr lang="ko-KR" sz="1500" dirty="0"/>
          </a:p>
        </p:txBody>
      </p:sp>
      <p:sp>
        <p:nvSpPr>
          <p:cNvPr id="37" name="Text 30"/>
          <p:cNvSpPr/>
          <p:nvPr/>
        </p:nvSpPr>
        <p:spPr>
          <a:xfrm>
            <a:off x="7004565"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주먹</a:t>
            </a:r>
            <a:endParaRPr lang="ko-KR" sz="1100" dirty="0"/>
          </a:p>
        </p:txBody>
      </p:sp>
      <p:sp>
        <p:nvSpPr>
          <p:cNvPr id="38" name="Text 31"/>
          <p:cNvSpPr/>
          <p:nvPr/>
        </p:nvSpPr>
        <p:spPr>
          <a:xfrm>
            <a:off x="7004565"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LED 전부 점멸</a:t>
            </a:r>
            <a:endParaRPr lang="ko-KR" sz="1000" dirty="0"/>
          </a:p>
        </p:txBody>
      </p:sp>
      <p:sp>
        <p:nvSpPr>
          <p:cNvPr id="39" name="Shape 32"/>
          <p:cNvSpPr/>
          <p:nvPr/>
        </p:nvSpPr>
        <p:spPr>
          <a:xfrm>
            <a:off x="8629977" y="2011680"/>
            <a:ext cx="1433387" cy="2896427"/>
          </a:xfrm>
          <a:prstGeom prst="rect">
            <a:avLst/>
          </a:prstGeom>
          <a:solidFill>
            <a:srgbClr val="18202A"/>
          </a:solidFill>
          <a:ln w="9525">
            <a:solidFill>
              <a:srgbClr val="263241"/>
            </a:solidFill>
            <a:prstDash val="solid"/>
          </a:ln>
        </p:spPr>
        <p:txBody>
          <a:bodyPr/>
          <a:p/>
        </p:txBody>
      </p:sp>
      <p:sp>
        <p:nvSpPr>
          <p:cNvPr id="40" name="Text 33"/>
          <p:cNvSpPr/>
          <p:nvPr/>
        </p:nvSpPr>
        <p:spPr>
          <a:xfrm>
            <a:off x="8767137"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06</a:t>
            </a:r>
            <a:endParaRPr lang="ko-KR" sz="1000" dirty="0"/>
          </a:p>
        </p:txBody>
      </p:sp>
      <p:pic>
        <p:nvPicPr>
          <p:cNvPr id="41" name="Image 5" descr="preencoded.png">    </p:cNvPr>
          <p:cNvPicPr>
            <a:picLocks noChangeAspect="1"/>
          </p:cNvPicPr>
          <p:nvPr/>
        </p:nvPicPr>
        <p:blipFill>
          <a:blip r:embed="rId6"/>
          <a:stretch>
            <a:fillRect/>
          </a:stretch>
        </p:blipFill>
        <p:spPr>
          <a:xfrm>
            <a:off x="8721417" y="2286000"/>
            <a:ext cx="1250507" cy="1250507"/>
          </a:xfrm>
          <a:prstGeom prst="rect">
            <a:avLst/>
          </a:prstGeom>
        </p:spPr>
      </p:pic>
      <p:sp>
        <p:nvSpPr>
          <p:cNvPr id="42" name="Text 34"/>
          <p:cNvSpPr/>
          <p:nvPr/>
        </p:nvSpPr>
        <p:spPr>
          <a:xfrm>
            <a:off x="8767137"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후진</a:t>
            </a:r>
            <a:endParaRPr lang="ko-KR" sz="1500" dirty="0"/>
          </a:p>
        </p:txBody>
      </p:sp>
      <p:sp>
        <p:nvSpPr>
          <p:cNvPr id="43" name="Text 35"/>
          <p:cNvSpPr/>
          <p:nvPr/>
        </p:nvSpPr>
        <p:spPr>
          <a:xfrm>
            <a:off x="8767137"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검지만</a:t>
            </a:r>
            <a:endParaRPr lang="ko-KR" sz="1100" dirty="0"/>
          </a:p>
        </p:txBody>
      </p:sp>
      <p:sp>
        <p:nvSpPr>
          <p:cNvPr id="44" name="Text 36"/>
          <p:cNvSpPr/>
          <p:nvPr/>
        </p:nvSpPr>
        <p:spPr>
          <a:xfrm>
            <a:off x="8767137"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후진 주행</a:t>
            </a:r>
            <a:endParaRPr lang="ko-KR" sz="1000" dirty="0"/>
          </a:p>
        </p:txBody>
      </p:sp>
      <p:sp>
        <p:nvSpPr>
          <p:cNvPr id="45" name="Shape 37"/>
          <p:cNvSpPr/>
          <p:nvPr/>
        </p:nvSpPr>
        <p:spPr>
          <a:xfrm>
            <a:off x="10209668" y="2011680"/>
            <a:ext cx="1433387" cy="2896427"/>
          </a:xfrm>
          <a:prstGeom prst="rect">
            <a:avLst/>
          </a:prstGeom>
          <a:solidFill>
            <a:srgbClr val="18202A"/>
          </a:solidFill>
          <a:ln w="9525">
            <a:solidFill>
              <a:srgbClr val="263241"/>
            </a:solidFill>
            <a:prstDash val="solid"/>
          </a:ln>
        </p:spPr>
        <p:txBody>
          <a:bodyPr/>
          <a:p/>
        </p:txBody>
      </p:sp>
      <p:sp>
        <p:nvSpPr>
          <p:cNvPr id="46" name="Text 38"/>
          <p:cNvSpPr/>
          <p:nvPr/>
        </p:nvSpPr>
        <p:spPr>
          <a:xfrm>
            <a:off x="10346828"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07</a:t>
            </a:r>
            <a:endParaRPr lang="ko-KR" sz="1000" dirty="0"/>
          </a:p>
        </p:txBody>
      </p:sp>
      <p:pic>
        <p:nvPicPr>
          <p:cNvPr id="47" name="Image 6" descr="preencoded.png">    </p:cNvPr>
          <p:cNvPicPr>
            <a:picLocks noChangeAspect="1"/>
          </p:cNvPicPr>
          <p:nvPr/>
        </p:nvPicPr>
        <p:blipFill>
          <a:blip r:embed="rId7"/>
          <a:stretch>
            <a:fillRect/>
          </a:stretch>
        </p:blipFill>
        <p:spPr>
          <a:xfrm>
            <a:off x="10301108" y="2286000"/>
            <a:ext cx="1250507" cy="1250507"/>
          </a:xfrm>
          <a:prstGeom prst="rect">
            <a:avLst/>
          </a:prstGeom>
        </p:spPr>
      </p:pic>
      <p:sp>
        <p:nvSpPr>
          <p:cNvPr id="48" name="Text 39"/>
          <p:cNvSpPr/>
          <p:nvPr/>
        </p:nvSpPr>
        <p:spPr>
          <a:xfrm>
            <a:off x="10346828"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주의</a:t>
            </a:r>
            <a:endParaRPr lang="ko-KR" sz="1500" dirty="0"/>
          </a:p>
        </p:txBody>
      </p:sp>
      <p:sp>
        <p:nvSpPr>
          <p:cNvPr id="49" name="Text 40"/>
          <p:cNvSpPr/>
          <p:nvPr/>
        </p:nvSpPr>
        <p:spPr>
          <a:xfrm>
            <a:off x="10346828"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소지만</a:t>
            </a:r>
            <a:endParaRPr lang="ko-KR" sz="1100" dirty="0"/>
          </a:p>
        </p:txBody>
      </p:sp>
      <p:sp>
        <p:nvSpPr>
          <p:cNvPr id="50" name="Text 41"/>
          <p:cNvSpPr/>
          <p:nvPr/>
        </p:nvSpPr>
        <p:spPr>
          <a:xfrm>
            <a:off x="10346828"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황색 LED</a:t>
            </a:r>
            <a:endParaRPr lang="ko-KR" sz="1000" dirty="0"/>
          </a:p>
        </p:txBody>
      </p:sp>
      <p:sp>
        <p:nvSpPr>
          <p:cNvPr id="51" name="Text 42"/>
          <p:cNvSpPr/>
          <p:nvPr/>
        </p:nvSpPr>
        <p:spPr>
          <a:xfrm>
            <a:off x="548640" y="5136707"/>
            <a:ext cx="11094415" cy="274320"/>
          </a:xfrm>
          <a:prstGeom prst="rect">
            <a:avLst/>
          </a:prstGeom>
          <a:noFill/>
          <a:ln/>
        </p:spPr>
        <p:txBody>
          <a:bodyPr wrap="square" lIns="0" tIns="0" rIns="0" bIns="0" rtlCol="0" anchor="ctr"/>
          <a:lstStyle/>
          <a:p>
            <a:pPr indent="0" marL="0">
              <a:buNone/>
            </a:pPr>
            <a:r>
              <a:rPr lang="ko-KR" altLang="en-US" sz="1050" dirty="0">
                <a:solidFill>
                  <a:srgbClr val="94A3B8"/>
                </a:solidFill>
                <a:latin typeface="Malgun Gothic" pitchFamily="34" charset="0"/>
                <a:ea typeface="Malgun Gothic" pitchFamily="34" charset="-122"/>
                <a:cs typeface="Malgun Gothic" pitchFamily="34" charset="-120"/>
              </a:rPr>
              <a:t>손 관절: KPI 촬영 데이터(RPi5 Camera Module 3)에서 추출한 실측 21점. 주황 점은 편 손가락 끝, 아래 줄은 정답일 때 picar 동작. 학습 데이터는 공개 데이터셋 2종(ASL 지문자 ODbL · 손가락 세기 MIT)에서 손 모양만 빌려 썼습니다(뜻은 무관).</a:t>
            </a:r>
            <a:endParaRPr lang="ko-KR"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07   구현 · 시험하며 고친 것</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07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실물 시험에서 부딪혀서 고친 것</a:t>
            </a:r>
            <a:endParaRPr lang="ko-KR" sz="3000" dirty="0"/>
          </a:p>
        </p:txBody>
      </p:sp>
      <p:sp>
        <p:nvSpPr>
          <p:cNvPr id="7" name="Shape 5"/>
          <p:cNvSpPr/>
          <p:nvPr/>
        </p:nvSpPr>
        <p:spPr>
          <a:xfrm>
            <a:off x="548640" y="1572768"/>
            <a:ext cx="5410048" cy="2240280"/>
          </a:xfrm>
          <a:prstGeom prst="rect">
            <a:avLst/>
          </a:prstGeom>
          <a:solidFill>
            <a:srgbClr val="121820"/>
          </a:solidFill>
          <a:ln w="9525">
            <a:solidFill>
              <a:srgbClr val="263241"/>
            </a:solidFill>
            <a:prstDash val="solid"/>
          </a:ln>
        </p:spPr>
      </p:sp>
      <p:sp>
        <p:nvSpPr>
          <p:cNvPr id="8" name="Text 6"/>
          <p:cNvSpPr/>
          <p:nvPr/>
        </p:nvSpPr>
        <p:spPr>
          <a:xfrm>
            <a:off x="777240"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CR-07 · 09-27</a:t>
            </a:r>
            <a:endParaRPr lang="ko-KR" sz="1000" dirty="0"/>
          </a:p>
        </p:txBody>
      </p:sp>
      <p:sp>
        <p:nvSpPr>
          <p:cNvPr id="9" name="Text 7"/>
          <p:cNvSpPr/>
          <p:nvPr/>
        </p:nvSpPr>
        <p:spPr>
          <a:xfrm>
            <a:off x="777240"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시범을 보기도 전에 오답</a:t>
            </a:r>
            <a:endParaRPr lang="ko-KR" sz="1700" dirty="0"/>
          </a:p>
        </p:txBody>
      </p:sp>
      <p:sp>
        <p:nvSpPr>
          <p:cNvPr id="10" name="Text 8"/>
          <p:cNvSpPr/>
          <p:nvPr/>
        </p:nvSpPr>
        <p:spPr>
          <a:xfrm>
            <a:off x="777240"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수신호가 바뀌자마자 방금 맞힌 손모양이 다음 신호의 오답으로 잡혔습니다.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시범 → 확인 버튼 → 판정으로 단계를 나누고, 오답은 1초 이상 유지돼야 확정합니다.</a:t>
            </a:r>
            <a:endParaRPr lang="ko-KR" sz="1150" dirty="0"/>
          </a:p>
        </p:txBody>
      </p:sp>
      <p:sp>
        <p:nvSpPr>
          <p:cNvPr id="11" name="Shape 9"/>
          <p:cNvSpPr/>
          <p:nvPr/>
        </p:nvSpPr>
        <p:spPr>
          <a:xfrm>
            <a:off x="777240" y="3429000"/>
            <a:ext cx="91440" cy="91440"/>
          </a:xfrm>
          <a:prstGeom prst="rect">
            <a:avLst/>
          </a:prstGeom>
          <a:solidFill>
            <a:srgbClr val="22C55E"/>
          </a:solidFill>
          <a:ln w="12700">
            <a:solidFill>
              <a:srgbClr val="22C55E"/>
            </a:solidFill>
            <a:prstDash val="solid"/>
          </a:ln>
        </p:spPr>
      </p:sp>
      <p:sp>
        <p:nvSpPr>
          <p:cNvPr id="12" name="Text 10"/>
          <p:cNvSpPr/>
          <p:nvPr/>
        </p:nvSpPr>
        <p:spPr>
          <a:xfrm>
            <a:off x="932688"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재시험 통과</a:t>
            </a:r>
            <a:endParaRPr lang="ko-KR" sz="1100" dirty="0"/>
          </a:p>
        </p:txBody>
      </p:sp>
      <p:sp>
        <p:nvSpPr>
          <p:cNvPr id="13" name="Shape 11"/>
          <p:cNvSpPr/>
          <p:nvPr/>
        </p:nvSpPr>
        <p:spPr>
          <a:xfrm>
            <a:off x="6233008" y="1572768"/>
            <a:ext cx="5410048" cy="2240280"/>
          </a:xfrm>
          <a:prstGeom prst="rect">
            <a:avLst/>
          </a:prstGeom>
          <a:solidFill>
            <a:srgbClr val="121820"/>
          </a:solidFill>
          <a:ln w="9525">
            <a:solidFill>
              <a:srgbClr val="263241"/>
            </a:solidFill>
            <a:prstDash val="solid"/>
          </a:ln>
        </p:spPr>
      </p:sp>
      <p:sp>
        <p:nvSpPr>
          <p:cNvPr id="14" name="Text 12"/>
          <p:cNvSpPr/>
          <p:nvPr/>
        </p:nvSpPr>
        <p:spPr>
          <a:xfrm>
            <a:off x="6461608"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CR-08 · 09-29</a:t>
            </a:r>
            <a:endParaRPr lang="ko-KR" sz="1000" dirty="0"/>
          </a:p>
        </p:txBody>
      </p:sp>
      <p:sp>
        <p:nvSpPr>
          <p:cNvPr id="15" name="Text 13"/>
          <p:cNvSpPr/>
          <p:nvPr/>
        </p:nvSpPr>
        <p:spPr>
          <a:xfrm>
            <a:off x="6461608"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틀리면 끝나지 않는 교육</a:t>
            </a:r>
            <a:endParaRPr lang="ko-KR" sz="1700" dirty="0"/>
          </a:p>
        </p:txBody>
      </p:sp>
      <p:sp>
        <p:nvSpPr>
          <p:cNvPr id="16" name="Text 14"/>
          <p:cNvSpPr/>
          <p:nvPr/>
        </p:nvSpPr>
        <p:spPr>
          <a:xfrm>
            <a:off x="6461608"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시도 상한이 없어 오답이나 미판정이 이어지면 다음 신호로 넘어가지 못했습니다.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수신호마다 시도 3회, 판정 1회 10초 제한. 시간 초과는 오답과 따로 기록합니다.</a:t>
            </a:r>
            <a:endParaRPr lang="ko-KR" sz="1150" dirty="0"/>
          </a:p>
        </p:txBody>
      </p:sp>
      <p:sp>
        <p:nvSpPr>
          <p:cNvPr id="17" name="Shape 15"/>
          <p:cNvSpPr/>
          <p:nvPr/>
        </p:nvSpPr>
        <p:spPr>
          <a:xfrm>
            <a:off x="6461608" y="3429000"/>
            <a:ext cx="91440" cy="91440"/>
          </a:xfrm>
          <a:prstGeom prst="rect">
            <a:avLst/>
          </a:prstGeom>
          <a:solidFill>
            <a:srgbClr val="22C55E"/>
          </a:solidFill>
          <a:ln w="12700">
            <a:solidFill>
              <a:srgbClr val="22C55E"/>
            </a:solidFill>
            <a:prstDash val="solid"/>
          </a:ln>
        </p:spPr>
      </p:sp>
      <p:sp>
        <p:nvSpPr>
          <p:cNvPr id="18" name="Text 16"/>
          <p:cNvSpPr/>
          <p:nvPr/>
        </p:nvSpPr>
        <p:spPr>
          <a:xfrm>
            <a:off x="6617056"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재검증 통과</a:t>
            </a:r>
            <a:endParaRPr lang="ko-KR" sz="1100" dirty="0"/>
          </a:p>
        </p:txBody>
      </p:sp>
      <p:sp>
        <p:nvSpPr>
          <p:cNvPr id="19" name="Shape 17"/>
          <p:cNvSpPr/>
          <p:nvPr/>
        </p:nvSpPr>
        <p:spPr>
          <a:xfrm>
            <a:off x="548640" y="4041648"/>
            <a:ext cx="5410048" cy="2240280"/>
          </a:xfrm>
          <a:prstGeom prst="rect">
            <a:avLst/>
          </a:prstGeom>
          <a:solidFill>
            <a:srgbClr val="121820"/>
          </a:solidFill>
          <a:ln w="9525">
            <a:solidFill>
              <a:srgbClr val="263241"/>
            </a:solidFill>
            <a:prstDash val="solid"/>
          </a:ln>
        </p:spPr>
      </p:sp>
      <p:sp>
        <p:nvSpPr>
          <p:cNvPr id="20" name="Text 18"/>
          <p:cNvSpPr/>
          <p:nvPr/>
        </p:nvSpPr>
        <p:spPr>
          <a:xfrm>
            <a:off x="777240"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장치 연결</a:t>
            </a:r>
            <a:endParaRPr lang="ko-KR" sz="1000" dirty="0"/>
          </a:p>
        </p:txBody>
      </p:sp>
      <p:sp>
        <p:nvSpPr>
          <p:cNvPr id="21" name="Text 19"/>
          <p:cNvSpPr/>
          <p:nvPr/>
        </p:nvSpPr>
        <p:spPr>
          <a:xfrm>
            <a:off x="777240"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화면은 정상인데 모터는 멈춤</a:t>
            </a:r>
            <a:endParaRPr lang="ko-KR" sz="1700" dirty="0"/>
          </a:p>
        </p:txBody>
      </p:sp>
      <p:sp>
        <p:nvSpPr>
          <p:cNvPr id="22" name="Text 20"/>
          <p:cNvSpPr/>
          <p:nvPr/>
        </p:nvSpPr>
        <p:spPr>
          <a:xfrm>
            <a:off x="777240"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picar 모터가 돌지 않아도 화면에는 정상으로 보이는 조용한 실패가 있었습니다.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장치 응답의 결과까지 확인하고, 화면 상단에 장치 상태를 표시합니다.</a:t>
            </a:r>
            <a:endParaRPr lang="ko-KR" sz="1150" dirty="0"/>
          </a:p>
        </p:txBody>
      </p:sp>
      <p:sp>
        <p:nvSpPr>
          <p:cNvPr id="23" name="Shape 21"/>
          <p:cNvSpPr/>
          <p:nvPr/>
        </p:nvSpPr>
        <p:spPr>
          <a:xfrm>
            <a:off x="777240" y="5897880"/>
            <a:ext cx="91440" cy="91440"/>
          </a:xfrm>
          <a:prstGeom prst="rect">
            <a:avLst/>
          </a:prstGeom>
          <a:solidFill>
            <a:srgbClr val="22C55E"/>
          </a:solidFill>
          <a:ln w="12700">
            <a:solidFill>
              <a:srgbClr val="22C55E"/>
            </a:solidFill>
            <a:prstDash val="solid"/>
          </a:ln>
        </p:spPr>
      </p:sp>
      <p:sp>
        <p:nvSpPr>
          <p:cNvPr id="24" name="Text 22"/>
          <p:cNvSpPr/>
          <p:nvPr/>
        </p:nvSpPr>
        <p:spPr>
          <a:xfrm>
            <a:off x="932688"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이상인 장치만 경보색 + 사유</a:t>
            </a:r>
            <a:endParaRPr lang="ko-KR" sz="1100" dirty="0"/>
          </a:p>
        </p:txBody>
      </p:sp>
      <p:sp>
        <p:nvSpPr>
          <p:cNvPr id="25" name="Shape 23"/>
          <p:cNvSpPr/>
          <p:nvPr/>
        </p:nvSpPr>
        <p:spPr>
          <a:xfrm>
            <a:off x="6233008" y="4041648"/>
            <a:ext cx="5410048" cy="2240280"/>
          </a:xfrm>
          <a:prstGeom prst="rect">
            <a:avLst/>
          </a:prstGeom>
          <a:solidFill>
            <a:srgbClr val="121820"/>
          </a:solidFill>
          <a:ln w="9525">
            <a:solidFill>
              <a:srgbClr val="263241"/>
            </a:solidFill>
            <a:prstDash val="solid"/>
          </a:ln>
        </p:spPr>
      </p:sp>
      <p:sp>
        <p:nvSpPr>
          <p:cNvPr id="26" name="Text 24"/>
          <p:cNvSpPr/>
          <p:nvPr/>
        </p:nvSpPr>
        <p:spPr>
          <a:xfrm>
            <a:off x="6461608"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평가 방법</a:t>
            </a:r>
            <a:endParaRPr lang="ko-KR" sz="1000" dirty="0"/>
          </a:p>
        </p:txBody>
      </p:sp>
      <p:sp>
        <p:nvSpPr>
          <p:cNvPr id="27" name="Text 25"/>
          <p:cNvSpPr/>
          <p:nvPr/>
        </p:nvSpPr>
        <p:spPr>
          <a:xfrm>
            <a:off x="6461608"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부풀려진 정확도 98.81%</a:t>
            </a:r>
            <a:endParaRPr lang="ko-KR" sz="1700" dirty="0"/>
          </a:p>
        </p:txBody>
      </p:sp>
      <p:sp>
        <p:nvSpPr>
          <p:cNvPr id="28" name="Text 26"/>
          <p:cNvSpPr/>
          <p:nvPr/>
        </p:nvSpPr>
        <p:spPr>
          <a:xfrm>
            <a:off x="6461608"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같은 촬영분의 복사본이 학습과 평가 양쪽에 들어가 점수가 부풀려졌습니다.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촬영 세션 단위로 나누어 평가(GroupKFold)하고, 무작위 분할 점수는 보고에 쓰지 않습니다.</a:t>
            </a:r>
            <a:endParaRPr lang="ko-KR" sz="1150" dirty="0"/>
          </a:p>
        </p:txBody>
      </p:sp>
      <p:sp>
        <p:nvSpPr>
          <p:cNvPr id="29" name="Shape 27"/>
          <p:cNvSpPr/>
          <p:nvPr/>
        </p:nvSpPr>
        <p:spPr>
          <a:xfrm>
            <a:off x="6461608" y="5897880"/>
            <a:ext cx="91440" cy="91440"/>
          </a:xfrm>
          <a:prstGeom prst="rect">
            <a:avLst/>
          </a:prstGeom>
          <a:solidFill>
            <a:srgbClr val="22C55E"/>
          </a:solidFill>
          <a:ln w="12700">
            <a:solidFill>
              <a:srgbClr val="22C55E"/>
            </a:solidFill>
            <a:prstDash val="solid"/>
          </a:ln>
        </p:spPr>
      </p:sp>
      <p:sp>
        <p:nvSpPr>
          <p:cNvPr id="30" name="Text 28"/>
          <p:cNvSpPr/>
          <p:nvPr/>
        </p:nvSpPr>
        <p:spPr>
          <a:xfrm>
            <a:off x="6617056"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정직한 기준 77.57% → 개선 88.68%</a:t>
            </a:r>
            <a:endParaRPr lang="ko-KR"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08   결과 · 판정 성능</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08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KPI 5개 충족(3개 잠정), 잘못 읽은 경우 0건</a:t>
            </a:r>
            <a:endParaRPr lang="ko-KR" sz="3000" dirty="0"/>
          </a:p>
        </p:txBody>
      </p:sp>
      <p:sp>
        <p:nvSpPr>
          <p:cNvPr id="7" name="Text 5"/>
          <p:cNvSpPr/>
          <p:nvPr/>
        </p:nvSpPr>
        <p:spPr>
          <a:xfrm>
            <a:off x="548640" y="1645920"/>
            <a:ext cx="329184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오분류율</a:t>
            </a:r>
            <a:endParaRPr lang="ko-KR" sz="1400" dirty="0"/>
          </a:p>
        </p:txBody>
      </p:sp>
      <p:sp>
        <p:nvSpPr>
          <p:cNvPr id="8" name="Text 6"/>
          <p:cNvSpPr/>
          <p:nvPr/>
        </p:nvSpPr>
        <p:spPr>
          <a:xfrm>
            <a:off x="548640" y="1920240"/>
            <a:ext cx="3291840" cy="1463040"/>
          </a:xfrm>
          <a:prstGeom prst="rect">
            <a:avLst/>
          </a:prstGeom>
          <a:noFill/>
          <a:ln/>
        </p:spPr>
        <p:txBody>
          <a:bodyPr wrap="square" lIns="0" tIns="0" rIns="0" bIns="0" rtlCol="0" anchor="ctr"/>
          <a:lstStyle/>
          <a:p>
            <a:pPr indent="0" marL="0">
              <a:buNone/>
            </a:pPr>
            <a:r>
              <a:rPr lang="ko-KR" altLang="en-US" sz="9600" b="1" dirty="0">
                <a:solidFill>
                  <a:srgbClr val="F1F5F9"/>
                </a:solidFill>
                <a:latin typeface="Malgun Gothic" pitchFamily="34" charset="0"/>
                <a:ea typeface="Malgun Gothic" pitchFamily="34" charset="-122"/>
                <a:cs typeface="Malgun Gothic" pitchFamily="34" charset="-120"/>
              </a:rPr>
              <a:t>0%</a:t>
            </a:r>
            <a:endParaRPr lang="ko-KR" sz="9600" dirty="0"/>
          </a:p>
        </p:txBody>
      </p:sp>
      <p:sp>
        <p:nvSpPr>
          <p:cNvPr id="9" name="Text 7"/>
          <p:cNvSpPr/>
          <p:nvPr/>
        </p:nvSpPr>
        <p:spPr>
          <a:xfrm>
            <a:off x="548640" y="3429000"/>
            <a:ext cx="3429000" cy="548640"/>
          </a:xfrm>
          <a:prstGeom prst="rect">
            <a:avLst/>
          </a:prstGeom>
          <a:noFill/>
          <a:ln/>
        </p:spPr>
        <p:txBody>
          <a:bodyPr wrap="square" lIns="0" tIns="0" rIns="0" bIns="0" rtlCol="0" anchor="t"/>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210시도 중 다른 신호로 판정한 경우 0건</a:t>
            </a:r>
            <a:endParaRPr lang="ko-KR" sz="1300" dirty="0"/>
          </a:p>
        </p:txBody>
      </p:sp>
      <p:sp>
        <p:nvSpPr>
          <p:cNvPr id="10" name="Text 8"/>
          <p:cNvSpPr/>
          <p:nvPr/>
        </p:nvSpPr>
        <p:spPr>
          <a:xfrm>
            <a:off x="548640" y="4023360"/>
            <a:ext cx="32918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3%  ·  95% 신뢰 상한 1.8%</a:t>
            </a:r>
            <a:endParaRPr lang="ko-KR" sz="1100" dirty="0"/>
          </a:p>
        </p:txBody>
      </p:sp>
      <p:sp>
        <p:nvSpPr>
          <p:cNvPr id="11" name="Shape 9"/>
          <p:cNvSpPr/>
          <p:nvPr/>
        </p:nvSpPr>
        <p:spPr>
          <a:xfrm>
            <a:off x="4069080" y="1645920"/>
            <a:ext cx="1874520" cy="1280160"/>
          </a:xfrm>
          <a:prstGeom prst="rect">
            <a:avLst/>
          </a:prstGeom>
          <a:solidFill>
            <a:srgbClr val="121820"/>
          </a:solidFill>
          <a:ln w="9525">
            <a:solidFill>
              <a:srgbClr val="263241"/>
            </a:solidFill>
            <a:prstDash val="solid"/>
          </a:ln>
        </p:spPr>
      </p:sp>
      <p:sp>
        <p:nvSpPr>
          <p:cNvPr id="12" name="Text 10"/>
          <p:cNvSpPr/>
          <p:nvPr/>
        </p:nvSpPr>
        <p:spPr>
          <a:xfrm>
            <a:off x="4233672"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정답률</a:t>
            </a:r>
            <a:endParaRPr lang="ko-KR" sz="1100" dirty="0"/>
          </a:p>
        </p:txBody>
      </p:sp>
      <p:sp>
        <p:nvSpPr>
          <p:cNvPr id="13" name="Text 11"/>
          <p:cNvSpPr/>
          <p:nvPr/>
        </p:nvSpPr>
        <p:spPr>
          <a:xfrm>
            <a:off x="4233672"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95.2%</a:t>
            </a:r>
            <a:endParaRPr lang="ko-KR" sz="2400" dirty="0"/>
          </a:p>
        </p:txBody>
      </p:sp>
      <p:sp>
        <p:nvSpPr>
          <p:cNvPr id="14" name="Text 12"/>
          <p:cNvSpPr/>
          <p:nvPr/>
        </p:nvSpPr>
        <p:spPr>
          <a:xfrm>
            <a:off x="4233672"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92%</a:t>
            </a:r>
            <a:endParaRPr lang="ko-KR" sz="950" dirty="0"/>
          </a:p>
        </p:txBody>
      </p:sp>
      <p:sp>
        <p:nvSpPr>
          <p:cNvPr id="15" name="Text 13"/>
          <p:cNvSpPr/>
          <p:nvPr/>
        </p:nvSpPr>
        <p:spPr>
          <a:xfrm>
            <a:off x="4233672"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200 / 210</a:t>
            </a:r>
            <a:endParaRPr lang="ko-KR" sz="900" dirty="0"/>
          </a:p>
        </p:txBody>
      </p:sp>
      <p:sp>
        <p:nvSpPr>
          <p:cNvPr id="16" name="Shape 14"/>
          <p:cNvSpPr/>
          <p:nvPr/>
        </p:nvSpPr>
        <p:spPr>
          <a:xfrm>
            <a:off x="6108192" y="1645920"/>
            <a:ext cx="1874520" cy="1280160"/>
          </a:xfrm>
          <a:prstGeom prst="rect">
            <a:avLst/>
          </a:prstGeom>
          <a:solidFill>
            <a:srgbClr val="121820"/>
          </a:solidFill>
          <a:ln w="9525">
            <a:solidFill>
              <a:srgbClr val="263241"/>
            </a:solidFill>
            <a:prstDash val="solid"/>
          </a:ln>
        </p:spPr>
      </p:sp>
      <p:sp>
        <p:nvSpPr>
          <p:cNvPr id="17" name="Text 15"/>
          <p:cNvSpPr/>
          <p:nvPr/>
        </p:nvSpPr>
        <p:spPr>
          <a:xfrm>
            <a:off x="6272784"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미판정률</a:t>
            </a:r>
            <a:endParaRPr lang="ko-KR" sz="1100" dirty="0"/>
          </a:p>
        </p:txBody>
      </p:sp>
      <p:sp>
        <p:nvSpPr>
          <p:cNvPr id="18" name="Text 16"/>
          <p:cNvSpPr/>
          <p:nvPr/>
        </p:nvSpPr>
        <p:spPr>
          <a:xfrm>
            <a:off x="6272784"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4.8%</a:t>
            </a:r>
            <a:endParaRPr lang="ko-KR" sz="2400" dirty="0"/>
          </a:p>
        </p:txBody>
      </p:sp>
      <p:sp>
        <p:nvSpPr>
          <p:cNvPr id="19" name="Text 17"/>
          <p:cNvSpPr/>
          <p:nvPr/>
        </p:nvSpPr>
        <p:spPr>
          <a:xfrm>
            <a:off x="6272784"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5%</a:t>
            </a:r>
            <a:endParaRPr lang="ko-KR" sz="950" dirty="0"/>
          </a:p>
        </p:txBody>
      </p:sp>
      <p:sp>
        <p:nvSpPr>
          <p:cNvPr id="20" name="Text 18"/>
          <p:cNvSpPr/>
          <p:nvPr/>
        </p:nvSpPr>
        <p:spPr>
          <a:xfrm>
            <a:off x="6272784"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10 / 210, 오답으로 세지 않음</a:t>
            </a:r>
            <a:endParaRPr lang="ko-KR" sz="900" dirty="0"/>
          </a:p>
        </p:txBody>
      </p:sp>
      <p:sp>
        <p:nvSpPr>
          <p:cNvPr id="21" name="Shape 19"/>
          <p:cNvSpPr/>
          <p:nvPr/>
        </p:nvSpPr>
        <p:spPr>
          <a:xfrm>
            <a:off x="4069080" y="3090672"/>
            <a:ext cx="1874520" cy="1280160"/>
          </a:xfrm>
          <a:prstGeom prst="rect">
            <a:avLst/>
          </a:prstGeom>
          <a:solidFill>
            <a:srgbClr val="121820"/>
          </a:solidFill>
          <a:ln w="9525">
            <a:solidFill>
              <a:srgbClr val="263241"/>
            </a:solidFill>
            <a:prstDash val="solid"/>
          </a:ln>
        </p:spPr>
      </p:sp>
      <p:sp>
        <p:nvSpPr>
          <p:cNvPr id="22" name="Text 20"/>
          <p:cNvSpPr/>
          <p:nvPr/>
        </p:nvSpPr>
        <p:spPr>
          <a:xfrm>
            <a:off x="4233672"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Macro F1</a:t>
            </a:r>
            <a:endParaRPr lang="ko-KR" sz="1100" dirty="0"/>
          </a:p>
        </p:txBody>
      </p:sp>
      <p:sp>
        <p:nvSpPr>
          <p:cNvPr id="23" name="Text 21"/>
          <p:cNvSpPr/>
          <p:nvPr/>
        </p:nvSpPr>
        <p:spPr>
          <a:xfrm>
            <a:off x="4233672"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0.974</a:t>
            </a:r>
            <a:endParaRPr lang="ko-KR" sz="2400" dirty="0"/>
          </a:p>
        </p:txBody>
      </p:sp>
      <p:sp>
        <p:nvSpPr>
          <p:cNvPr id="24" name="Text 22"/>
          <p:cNvSpPr/>
          <p:nvPr/>
        </p:nvSpPr>
        <p:spPr>
          <a:xfrm>
            <a:off x="4233672"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0.90</a:t>
            </a:r>
            <a:endParaRPr lang="ko-KR" sz="950" dirty="0"/>
          </a:p>
        </p:txBody>
      </p:sp>
      <p:sp>
        <p:nvSpPr>
          <p:cNvPr id="25" name="Text 23"/>
          <p:cNvSpPr/>
          <p:nvPr/>
        </p:nvSpPr>
        <p:spPr>
          <a:xfrm>
            <a:off x="4233672"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7종 평균</a:t>
            </a:r>
            <a:endParaRPr lang="ko-KR" sz="900" dirty="0"/>
          </a:p>
        </p:txBody>
      </p:sp>
      <p:sp>
        <p:nvSpPr>
          <p:cNvPr id="26" name="Shape 24"/>
          <p:cNvSpPr/>
          <p:nvPr/>
        </p:nvSpPr>
        <p:spPr>
          <a:xfrm>
            <a:off x="6108192" y="3090672"/>
            <a:ext cx="1874520" cy="1280160"/>
          </a:xfrm>
          <a:prstGeom prst="rect">
            <a:avLst/>
          </a:prstGeom>
          <a:solidFill>
            <a:srgbClr val="121820"/>
          </a:solidFill>
          <a:ln w="9525">
            <a:solidFill>
              <a:srgbClr val="263241"/>
            </a:solidFill>
            <a:prstDash val="solid"/>
          </a:ln>
        </p:spPr>
      </p:sp>
      <p:sp>
        <p:nvSpPr>
          <p:cNvPr id="27" name="Text 25"/>
          <p:cNvSpPr/>
          <p:nvPr/>
        </p:nvSpPr>
        <p:spPr>
          <a:xfrm>
            <a:off x="6272784"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치명 오분류</a:t>
            </a:r>
            <a:endParaRPr lang="ko-KR" sz="1100" dirty="0"/>
          </a:p>
        </p:txBody>
      </p:sp>
      <p:sp>
        <p:nvSpPr>
          <p:cNvPr id="28" name="Text 26"/>
          <p:cNvSpPr/>
          <p:nvPr/>
        </p:nvSpPr>
        <p:spPr>
          <a:xfrm>
            <a:off x="6272784"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0건</a:t>
            </a:r>
            <a:endParaRPr lang="ko-KR" sz="2400" dirty="0"/>
          </a:p>
        </p:txBody>
      </p:sp>
      <p:sp>
        <p:nvSpPr>
          <p:cNvPr id="29" name="Text 27"/>
          <p:cNvSpPr/>
          <p:nvPr/>
        </p:nvSpPr>
        <p:spPr>
          <a:xfrm>
            <a:off x="6272784"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0건</a:t>
            </a:r>
            <a:endParaRPr lang="ko-KR" sz="950" dirty="0"/>
          </a:p>
        </p:txBody>
      </p:sp>
      <p:sp>
        <p:nvSpPr>
          <p:cNvPr id="30" name="Text 28"/>
          <p:cNvSpPr/>
          <p:nvPr/>
        </p:nvSpPr>
        <p:spPr>
          <a:xfrm>
            <a:off x="6272784"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정지 30시도, 상한 11.4%</a:t>
            </a:r>
            <a:endParaRPr lang="ko-KR" sz="900" dirty="0"/>
          </a:p>
        </p:txBody>
      </p:sp>
      <p:graphicFrame>
        <p:nvGraphicFramePr>
          <p:cNvPr id="31" name="Chart 0" descr=""/>
          <p:cNvGraphicFramePr/>
          <p:nvPr/>
        </p:nvGraphicFramePr>
        <p:xfrm>
          <a:off x="8229600" y="1572768"/>
          <a:ext cx="3413455" cy="3017520"/>
        </p:xfrm>
        <a:graphic xmlns:a="http://schemas.openxmlformats.org/drawingml/2006/main">
          <a:graphicData uri="http://schemas.openxmlformats.org/drawingml/2006/chart">
            <c:chart xmlns:c="http://schemas.openxmlformats.org/drawingml/2006/chart" r:id="rId1"/>
          </a:graphicData>
        </a:graphic>
      </p:graphicFrame>
      <p:sp>
        <p:nvSpPr>
          <p:cNvPr id="32" name="Text 29"/>
          <p:cNvSpPr/>
          <p:nvPr/>
        </p:nvSpPr>
        <p:spPr>
          <a:xfrm>
            <a:off x="8229600" y="4663440"/>
            <a:ext cx="3413455" cy="502920"/>
          </a:xfrm>
          <a:prstGeom prst="rect">
            <a:avLst/>
          </a:prstGeom>
          <a:noFill/>
          <a:ln/>
        </p:spPr>
        <p:txBody>
          <a:bodyPr wrap="square" lIns="0" tIns="0" rIns="0" bIns="0" rtlCol="0" anchor="t"/>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오답은 7종 모두 0건. 미판정 10건(후진 6 · 확인 완료 3 · 서행 1)은 전부 ‘7종 분포 밖’이라 보류한 경우</a:t>
            </a:r>
            <a:endParaRPr lang="ko-KR" sz="950" dirty="0"/>
          </a:p>
        </p:txBody>
      </p:sp>
      <p:sp>
        <p:nvSpPr>
          <p:cNvPr id="33" name="Text 30"/>
          <p:cNvSpPr/>
          <p:nvPr/>
        </p:nvSpPr>
        <p:spPr>
          <a:xfrm>
            <a:off x="548640" y="534924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측정 2026-09-29 · 평가 전용 팀원 3명 × 70시도 = 210시도 · 오프라인, 공식 규칙(3프레임 연속) · 모델은 공개 데이터로만 학습했고 이 촬영분은 학습에 쓰지 않음.</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사람별 정답률 97.1 · 94.3 · 94.3%. 정답률 · 미판정률은 95% 신뢰구간이 목표선에 걸치고, 치명 오분류 0건은 정지 30시도뿐이라 95% 상한이 11.4%여서, 이 3개를 ‘잠정 달성’으로 기록(06 §2-1).</a:t>
            </a:r>
            <a:endParaRPr lang="ko-KR"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09   결과 · 지연</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09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0.05초, 장치 반응 시작 0.09초</a:t>
            </a:r>
            <a:endParaRPr lang="ko-KR" sz="3000" dirty="0"/>
          </a:p>
        </p:txBody>
      </p:sp>
      <p:sp>
        <p:nvSpPr>
          <p:cNvPr id="7" name="Shape 5"/>
          <p:cNvSpPr/>
          <p:nvPr/>
        </p:nvSpPr>
        <p:spPr>
          <a:xfrm>
            <a:off x="548640" y="1691640"/>
            <a:ext cx="4206240" cy="1691640"/>
          </a:xfrm>
          <a:prstGeom prst="rect">
            <a:avLst/>
          </a:prstGeom>
          <a:solidFill>
            <a:srgbClr val="121820"/>
          </a:solidFill>
          <a:ln w="9525">
            <a:solidFill>
              <a:srgbClr val="263241"/>
            </a:solidFill>
            <a:prstDash val="solid"/>
          </a:ln>
        </p:spPr>
      </p:sp>
      <p:sp>
        <p:nvSpPr>
          <p:cNvPr id="8" name="Shape 6"/>
          <p:cNvSpPr/>
          <p:nvPr/>
        </p:nvSpPr>
        <p:spPr>
          <a:xfrm>
            <a:off x="777240" y="1938528"/>
            <a:ext cx="109728" cy="109728"/>
          </a:xfrm>
          <a:prstGeom prst="rect">
            <a:avLst/>
          </a:prstGeom>
          <a:solidFill>
            <a:srgbClr val="EA580C"/>
          </a:solidFill>
          <a:ln w="12700">
            <a:solidFill>
              <a:srgbClr val="EA580C"/>
            </a:solidFill>
            <a:prstDash val="solid"/>
          </a:ln>
        </p:spPr>
      </p:sp>
      <p:sp>
        <p:nvSpPr>
          <p:cNvPr id="9" name="Text 7"/>
          <p:cNvSpPr/>
          <p:nvPr/>
        </p:nvSpPr>
        <p:spPr>
          <a:xfrm>
            <a:off x="960120" y="184708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판정 지연 P95</a:t>
            </a:r>
            <a:endParaRPr lang="ko-KR" sz="1300" dirty="0"/>
          </a:p>
        </p:txBody>
      </p:sp>
      <p:sp>
        <p:nvSpPr>
          <p:cNvPr id="10" name="Text 8"/>
          <p:cNvSpPr/>
          <p:nvPr/>
        </p:nvSpPr>
        <p:spPr>
          <a:xfrm>
            <a:off x="777240" y="216712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0.046초</a:t>
            </a:r>
            <a:endParaRPr lang="ko-KR" sz="4400" dirty="0"/>
          </a:p>
        </p:txBody>
      </p:sp>
      <p:sp>
        <p:nvSpPr>
          <p:cNvPr id="11" name="Text 9"/>
          <p:cNvSpPr/>
          <p:nvPr/>
        </p:nvSpPr>
        <p:spPr>
          <a:xfrm>
            <a:off x="777240" y="295351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1.0초   ·   95% 상한 0.065초</a:t>
            </a:r>
            <a:endParaRPr lang="ko-KR" sz="1100" dirty="0"/>
          </a:p>
        </p:txBody>
      </p:sp>
      <p:sp>
        <p:nvSpPr>
          <p:cNvPr id="12" name="Shape 10"/>
          <p:cNvSpPr/>
          <p:nvPr/>
        </p:nvSpPr>
        <p:spPr>
          <a:xfrm>
            <a:off x="548640" y="3566160"/>
            <a:ext cx="4206240" cy="1691640"/>
          </a:xfrm>
          <a:prstGeom prst="rect">
            <a:avLst/>
          </a:prstGeom>
          <a:solidFill>
            <a:srgbClr val="121820"/>
          </a:solidFill>
          <a:ln w="9525">
            <a:solidFill>
              <a:srgbClr val="263241"/>
            </a:solidFill>
            <a:prstDash val="solid"/>
          </a:ln>
        </p:spPr>
      </p:sp>
      <p:sp>
        <p:nvSpPr>
          <p:cNvPr id="13" name="Shape 11"/>
          <p:cNvSpPr/>
          <p:nvPr/>
        </p:nvSpPr>
        <p:spPr>
          <a:xfrm>
            <a:off x="777240" y="3813048"/>
            <a:ext cx="109728" cy="109728"/>
          </a:xfrm>
          <a:prstGeom prst="rect">
            <a:avLst/>
          </a:prstGeom>
          <a:solidFill>
            <a:srgbClr val="0891B2"/>
          </a:solidFill>
          <a:ln w="12700">
            <a:solidFill>
              <a:srgbClr val="0891B2"/>
            </a:solidFill>
            <a:prstDash val="solid"/>
          </a:ln>
        </p:spPr>
      </p:sp>
      <p:sp>
        <p:nvSpPr>
          <p:cNvPr id="14" name="Text 12"/>
          <p:cNvSpPr/>
          <p:nvPr/>
        </p:nvSpPr>
        <p:spPr>
          <a:xfrm>
            <a:off x="960120" y="372160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물리 피드백 시작 P95</a:t>
            </a:r>
            <a:endParaRPr lang="ko-KR" sz="1300" dirty="0"/>
          </a:p>
        </p:txBody>
      </p:sp>
      <p:sp>
        <p:nvSpPr>
          <p:cNvPr id="15" name="Text 13"/>
          <p:cNvSpPr/>
          <p:nvPr/>
        </p:nvSpPr>
        <p:spPr>
          <a:xfrm>
            <a:off x="777240" y="404164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0.089초</a:t>
            </a:r>
            <a:endParaRPr lang="ko-KR" sz="4400" dirty="0"/>
          </a:p>
        </p:txBody>
      </p:sp>
      <p:sp>
        <p:nvSpPr>
          <p:cNvPr id="16" name="Text 14"/>
          <p:cNvSpPr/>
          <p:nvPr/>
        </p:nvSpPr>
        <p:spPr>
          <a:xfrm>
            <a:off x="777240" y="482803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2.0초   ·   95% 상한 0.262초</a:t>
            </a:r>
            <a:endParaRPr lang="ko-KR" sz="1100" dirty="0"/>
          </a:p>
        </p:txBody>
      </p:sp>
      <p:graphicFrame>
        <p:nvGraphicFramePr>
          <p:cNvPr id="17" name="Chart 0" descr=""/>
          <p:cNvGraphicFramePr/>
          <p:nvPr/>
        </p:nvGraphicFramePr>
        <p:xfrm>
          <a:off x="5120640" y="1600200"/>
          <a:ext cx="6522415" cy="36118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48640" y="544068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판정 지연 = 확정 프레임 캡처 → 판정. 물리 피드백 시작 = 판정 확정 → picar · micro:bit가 명령을 받았다고 응답(09-30 회의 기준).</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참고: picar 주행을 뺀 동작 완료까지 1.089초. 240fps 슬로모션 7시도로 재면 손을 멈춘 뒤 반응 시작 0.14~0.24초, 동작 완료(picar 주행 제외) 약 1.11~1.24초. 측정 2026-10-02.</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목표 1.0초 근거: 응답이 1초를 넘으면 사용자의 생각 흐름이 끊긴다(Nielsen, Usability Engineering, 1993). 물리 피드백 2.0초 등 나머지 목표는 팀이 정한 값.</a:t>
            </a:r>
            <a:endParaRPr lang="ko-KR"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txBody>
          <a:bodyPr/>
          <a:p/>
        </p:txBody>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10   한계와 역할</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10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남은 한계와 다음 단계</a:t>
            </a:r>
            <a:endParaRPr lang="ko-KR" sz="3000" dirty="0"/>
          </a:p>
        </p:txBody>
      </p:sp>
      <p:sp>
        <p:nvSpPr>
          <p:cNvPr id="7" name="Shape 5"/>
          <p:cNvSpPr/>
          <p:nvPr/>
        </p:nvSpPr>
        <p:spPr>
          <a:xfrm>
            <a:off x="548640" y="1645920"/>
            <a:ext cx="502920" cy="502920"/>
          </a:xfrm>
          <a:prstGeom prst="ellipse">
            <a:avLst/>
          </a:prstGeom>
          <a:solidFill>
            <a:srgbClr val="18202A"/>
          </a:solidFill>
          <a:ln w="9525">
            <a:solidFill>
              <a:srgbClr val="263241"/>
            </a:solidFill>
            <a:prstDash val="solid"/>
          </a:ln>
        </p:spPr>
        <p:txBody>
          <a:bodyPr/>
          <a:p/>
        </p:txBody>
      </p:sp>
      <p:pic>
        <p:nvPicPr>
          <p:cNvPr id="8" name="Image 0" descr="preencoded.png">    </p:cNvPr>
          <p:cNvPicPr>
            <a:picLocks noChangeAspect="1"/>
          </p:cNvPicPr>
          <p:nvPr/>
        </p:nvPicPr>
        <p:blipFill>
          <a:blip r:embed="rId1"/>
          <a:stretch>
            <a:fillRect/>
          </a:stretch>
        </p:blipFill>
        <p:spPr>
          <a:xfrm>
            <a:off x="658368" y="1755648"/>
            <a:ext cx="283464" cy="283464"/>
          </a:xfrm>
          <a:prstGeom prst="rect">
            <a:avLst/>
          </a:prstGeom>
        </p:spPr>
      </p:pic>
      <p:sp>
        <p:nvSpPr>
          <p:cNvPr id="9" name="Text 6"/>
          <p:cNvSpPr/>
          <p:nvPr/>
        </p:nvSpPr>
        <p:spPr>
          <a:xfrm>
            <a:off x="1280160" y="1600200"/>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기울인 손 과차단</a:t>
            </a:r>
            <a:endParaRPr lang="ko-KR" sz="1500" dirty="0"/>
          </a:p>
        </p:txBody>
      </p:sp>
      <p:sp>
        <p:nvSpPr>
          <p:cNvPr id="10" name="Text 7"/>
          <p:cNvSpPr/>
          <p:nvPr/>
        </p:nvSpPr>
        <p:spPr>
          <a:xfrm>
            <a:off x="1280160" y="1965960"/>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미판정 10건 중 7건이 손을 오른쪽으로 기울인 자세였습니다. 기울기 보정은 새 평가 데이터로 다시 재서 확인합니다.</a:t>
            </a:r>
            <a:endParaRPr lang="ko-KR" sz="1150" dirty="0"/>
          </a:p>
        </p:txBody>
      </p:sp>
      <p:sp>
        <p:nvSpPr>
          <p:cNvPr id="11" name="Shape 8"/>
          <p:cNvSpPr/>
          <p:nvPr/>
        </p:nvSpPr>
        <p:spPr>
          <a:xfrm>
            <a:off x="548640" y="2852928"/>
            <a:ext cx="502920" cy="502920"/>
          </a:xfrm>
          <a:prstGeom prst="ellipse">
            <a:avLst/>
          </a:prstGeom>
          <a:solidFill>
            <a:srgbClr val="18202A"/>
          </a:solidFill>
          <a:ln w="9525">
            <a:solidFill>
              <a:srgbClr val="263241"/>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658368" y="2962656"/>
            <a:ext cx="283464" cy="283464"/>
          </a:xfrm>
          <a:prstGeom prst="rect">
            <a:avLst/>
          </a:prstGeom>
        </p:spPr>
      </p:pic>
      <p:sp>
        <p:nvSpPr>
          <p:cNvPr id="13" name="Text 9"/>
          <p:cNvSpPr/>
          <p:nvPr/>
        </p:nvSpPr>
        <p:spPr>
          <a:xfrm>
            <a:off x="1280160" y="2807208"/>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평가자 3명이 모두 팀원</a:t>
            </a:r>
            <a:endParaRPr lang="ko-KR" sz="1500" dirty="0"/>
          </a:p>
        </p:txBody>
      </p:sp>
      <p:sp>
        <p:nvSpPr>
          <p:cNvPr id="14" name="Text 10"/>
          <p:cNvSpPr/>
          <p:nvPr/>
        </p:nvSpPr>
        <p:spPr>
          <a:xfrm>
            <a:off x="1280160" y="3172968"/>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현장 작업자 의견은 아직 받지 못했습니다. 시연 자리에서 5분 체험 + 3문항 의견을 받습니다.</a:t>
            </a:r>
            <a:endParaRPr lang="ko-KR" sz="1150" dirty="0"/>
          </a:p>
        </p:txBody>
      </p:sp>
      <p:sp>
        <p:nvSpPr>
          <p:cNvPr id="15" name="Shape 11"/>
          <p:cNvSpPr/>
          <p:nvPr/>
        </p:nvSpPr>
        <p:spPr>
          <a:xfrm>
            <a:off x="548640" y="4059936"/>
            <a:ext cx="502920" cy="502920"/>
          </a:xfrm>
          <a:prstGeom prst="ellipse">
            <a:avLst/>
          </a:prstGeom>
          <a:solidFill>
            <a:srgbClr val="18202A"/>
          </a:solidFill>
          <a:ln w="9525">
            <a:solidFill>
              <a:srgbClr val="263241"/>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658368" y="4169664"/>
            <a:ext cx="283464" cy="283464"/>
          </a:xfrm>
          <a:prstGeom prst="rect">
            <a:avLst/>
          </a:prstGeom>
        </p:spPr>
      </p:pic>
      <p:sp>
        <p:nvSpPr>
          <p:cNvPr id="17" name="Text 12"/>
          <p:cNvSpPr/>
          <p:nvPr/>
        </p:nvSpPr>
        <p:spPr>
          <a:xfrm>
            <a:off x="1280160" y="4014216"/>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오분류 0%의 95% 상한은 1.8%</a:t>
            </a:r>
            <a:endParaRPr lang="ko-KR" sz="1500" dirty="0"/>
          </a:p>
        </p:txBody>
      </p:sp>
      <p:sp>
        <p:nvSpPr>
          <p:cNvPr id="18" name="Text 13"/>
          <p:cNvSpPr/>
          <p:nvPr/>
        </p:nvSpPr>
        <p:spPr>
          <a:xfrm>
            <a:off x="1280160" y="4379976"/>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‘0%’가 아니라 ‘1.8% 이하’로, 치명 오분류 0건은 ‘11.4% 이하’로 읽어야 합니다. 외부인 시행을 늘려 구간을 좁힙니다.</a:t>
            </a:r>
            <a:endParaRPr lang="ko-KR" sz="1150" dirty="0"/>
          </a:p>
        </p:txBody>
      </p:sp>
      <p:sp>
        <p:nvSpPr>
          <p:cNvPr id="19" name="Shape 14"/>
          <p:cNvSpPr/>
          <p:nvPr/>
        </p:nvSpPr>
        <p:spPr>
          <a:xfrm>
            <a:off x="7086600" y="1554480"/>
            <a:ext cx="4556455" cy="3703320"/>
          </a:xfrm>
          <a:prstGeom prst="rect">
            <a:avLst/>
          </a:prstGeom>
          <a:solidFill>
            <a:srgbClr val="121820"/>
          </a:solidFill>
          <a:ln w="9525">
            <a:solidFill>
              <a:srgbClr val="263241"/>
            </a:solidFill>
            <a:prstDash val="solid"/>
          </a:ln>
        </p:spPr>
        <p:txBody>
          <a:bodyPr/>
          <a:p/>
        </p:txBody>
      </p:sp>
      <p:sp>
        <p:nvSpPr>
          <p:cNvPr id="20" name="Text 15"/>
          <p:cNvSpPr/>
          <p:nvPr/>
        </p:nvSpPr>
        <p:spPr>
          <a:xfrm>
            <a:off x="7360920" y="1719072"/>
            <a:ext cx="274320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역할</a:t>
            </a:r>
            <a:endParaRPr lang="ko-KR" sz="1400" dirty="0"/>
          </a:p>
        </p:txBody>
      </p:sp>
      <p:sp>
        <p:nvSpPr>
          <p:cNvPr id="21" name="Text 16"/>
          <p:cNvSpPr/>
          <p:nvPr/>
        </p:nvSpPr>
        <p:spPr>
          <a:xfrm>
            <a:off x="7360920" y="2176272"/>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송승호</a:t>
            </a:r>
            <a:endParaRPr lang="ko-KR" sz="1500" dirty="0"/>
          </a:p>
        </p:txBody>
      </p:sp>
      <p:sp>
        <p:nvSpPr>
          <p:cNvPr id="22" name="Text 17"/>
          <p:cNvSpPr/>
          <p:nvPr/>
        </p:nvSpPr>
        <p:spPr>
          <a:xfrm>
            <a:off x="8321040" y="2203704"/>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팀장 · AI Hand·picar 하드웨어</a:t>
            </a:r>
            <a:br>
              <a:rPr lang="ko-KR" altLang="en-US" sz="1150" dirty="0">
                <a:solidFill>
                  <a:srgbClr val="94A3B8"/>
                </a:solidFill>
                <a:latin typeface="Malgun Gothic" pitchFamily="34" charset="0"/>
                <a:ea typeface="Malgun Gothic" pitchFamily="34" charset="-122"/>
                <a:cs typeface="Malgun Gothic" pitchFamily="34" charset="-120"/>
              </a:rPr>
            </a:br>
            <a:r>
              <a:rPr lang="ko-KR" altLang="en-US" sz="1150" dirty="0">
                <a:solidFill>
                  <a:srgbClr val="94A3B8"/>
                </a:solidFill>
                <a:latin typeface="Malgun Gothic" pitchFamily="34" charset="0"/>
                <a:ea typeface="Malgun Gothic" pitchFamily="34" charset="-122"/>
                <a:cs typeface="Malgun Gothic" pitchFamily="34" charset="-120"/>
              </a:rPr>
              <a:t>통합 시험·KPI 측정</a:t>
            </a:r>
            <a:endParaRPr lang="ko-KR" sz="1150" dirty="0"/>
          </a:p>
        </p:txBody>
      </p:sp>
      <p:sp>
        <p:nvSpPr>
          <p:cNvPr id="23" name="Text 18"/>
          <p:cNvSpPr/>
          <p:nvPr/>
        </p:nvSpPr>
        <p:spPr>
          <a:xfrm>
            <a:off x="7360920" y="2926080"/>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이동혁</a:t>
            </a:r>
            <a:endParaRPr lang="ko-KR" sz="1500" dirty="0"/>
          </a:p>
        </p:txBody>
      </p:sp>
      <p:sp>
        <p:nvSpPr>
          <p:cNvPr id="24" name="Text 19"/>
          <p:cNvSpPr/>
          <p:nvPr/>
        </p:nvSpPr>
        <p:spPr>
          <a:xfrm>
            <a:off x="8321040" y="2953512"/>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인식·판정 로직(vision) · 회원 DB · 화면 디자인</a:t>
            </a:r>
            <a:endParaRPr lang="ko-KR" sz="1150" dirty="0"/>
          </a:p>
        </p:txBody>
      </p:sp>
      <p:sp>
        <p:nvSpPr>
          <p:cNvPr id="25" name="Text 20"/>
          <p:cNvSpPr/>
          <p:nvPr/>
        </p:nvSpPr>
        <p:spPr>
          <a:xfrm>
            <a:off x="7360920" y="3675888"/>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조은수</a:t>
            </a:r>
            <a:endParaRPr lang="ko-KR" sz="1500" dirty="0"/>
          </a:p>
        </p:txBody>
      </p:sp>
      <p:sp>
        <p:nvSpPr>
          <p:cNvPr id="26" name="Text 21"/>
          <p:cNvSpPr/>
          <p:nvPr/>
        </p:nvSpPr>
        <p:spPr>
          <a:xfrm>
            <a:off x="8321040" y="3703320"/>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웹 교육 화면 · KPI 집계 · 화면 캡처</a:t>
            </a:r>
            <a:endParaRPr lang="ko-KR" sz="1150" dirty="0"/>
          </a:p>
        </p:txBody>
      </p:sp>
      <p:sp>
        <p:nvSpPr>
          <p:cNvPr id="27" name="Text 22"/>
          <p:cNvSpPr/>
          <p:nvPr/>
        </p:nvSpPr>
        <p:spPr>
          <a:xfrm>
            <a:off x="7360920" y="4425696"/>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김지훈</a:t>
            </a:r>
            <a:endParaRPr lang="ko-KR" sz="1500" dirty="0"/>
          </a:p>
        </p:txBody>
      </p:sp>
      <p:sp>
        <p:nvSpPr>
          <p:cNvPr id="28" name="Text 23"/>
          <p:cNvSpPr/>
          <p:nvPr/>
        </p:nvSpPr>
        <p:spPr>
          <a:xfrm>
            <a:off x="8321040" y="4453128"/>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학습 데이터 확보 · 요구사항·시나리오</a:t>
            </a:r>
            <a:br>
              <a:rPr lang="ko-KR" altLang="en-US" sz="1150" dirty="0">
                <a:solidFill>
                  <a:srgbClr val="94A3B8"/>
                </a:solidFill>
                <a:latin typeface="Malgun Gothic" pitchFamily="34" charset="0"/>
                <a:ea typeface="Malgun Gothic" pitchFamily="34" charset="-122"/>
                <a:cs typeface="Malgun Gothic" pitchFamily="34" charset="-120"/>
              </a:rPr>
            </a:br>
            <a:r>
              <a:rPr lang="ko-KR" altLang="en-US" sz="1150" dirty="0">
                <a:solidFill>
                  <a:srgbClr val="94A3B8"/>
                </a:solidFill>
                <a:latin typeface="Malgun Gothic" pitchFamily="34" charset="0"/>
                <a:ea typeface="Malgun Gothic" pitchFamily="34" charset="-122"/>
                <a:cs typeface="Malgun Gothic" pitchFamily="34" charset="-120"/>
              </a:rPr>
              <a:t>DB 연동 · 결과보고서</a:t>
            </a:r>
            <a:endParaRPr lang="ko-KR" sz="1150" dirty="0"/>
          </a:p>
        </p:txBody>
      </p:sp>
      <p:sp>
        <p:nvSpPr>
          <p:cNvPr id="29" name="Text 24"/>
          <p:cNvSpPr/>
          <p:nvPr/>
        </p:nvSpPr>
        <p:spPr>
          <a:xfrm>
            <a:off x="548640" y="5486400"/>
            <a:ext cx="5486400" cy="548640"/>
          </a:xfrm>
          <a:prstGeom prst="rect">
            <a:avLst/>
          </a:prstGeom>
          <a:noFill/>
          <a:ln/>
        </p:spPr>
        <p:txBody>
          <a:bodyPr wrap="square" lIns="0" tIns="0" rIns="0" bIns="0" rtlCol="0" anchor="ctr"/>
          <a:lstStyle/>
          <a:p>
            <a:pPr indent="0" marL="0">
              <a:buNone/>
            </a:pPr>
            <a:r>
              <a:rPr lang="ko-KR" altLang="en-US" sz="2600" b="1" dirty="0">
                <a:solidFill>
                  <a:srgbClr val="F1F5F9"/>
                </a:solidFill>
                <a:latin typeface="Malgun Gothic" pitchFamily="34" charset="0"/>
                <a:ea typeface="Malgun Gothic" pitchFamily="34" charset="-122"/>
                <a:cs typeface="Malgun Gothic" pitchFamily="34" charset="-120"/>
              </a:rPr>
              <a:t>감사합니다</a:t>
            </a:r>
            <a:endParaRPr lang="ko-KR" sz="2600" dirty="0"/>
          </a:p>
        </p:txBody>
      </p:sp>
      <p:sp>
        <p:nvSpPr>
          <p:cNvPr id="30" name="Text 25"/>
          <p:cNvSpPr/>
          <p:nvPr/>
        </p:nvSpPr>
        <p:spPr>
          <a:xfrm>
            <a:off x="7086600" y="5596128"/>
            <a:ext cx="4556455" cy="365760"/>
          </a:xfrm>
          <a:prstGeom prst="rect">
            <a:avLst/>
          </a:prstGeom>
          <a:noFill/>
          <a:ln/>
        </p:spPr>
        <p:txBody>
          <a:bodyPr wrap="square" lIns="0" tIns="0" rIns="0" bIns="0" rtlCol="0" anchor="ctr"/>
          <a:lstStyle/>
          <a:p>
            <a:pPr algn="r" indent="0" marL="0">
              <a:buNone/>
            </a:pPr>
            <a:r>
              <a:rPr lang="ko-KR" altLang="en-US" sz="1200" dirty="0">
                <a:solidFill>
                  <a:srgbClr val="94A3B8"/>
                </a:solidFill>
                <a:latin typeface="Malgun Gothic" pitchFamily="34" charset="0"/>
                <a:ea typeface="Malgun Gothic" pitchFamily="34" charset="-122"/>
                <a:cs typeface="Malgun Gothic" pitchFamily="34" charset="-120"/>
              </a:rPr>
              <a:t>네 명이 한 루프를 나눠 맡았습니다</a:t>
            </a:r>
            <a:endParaRPr lang="ko-KR"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심기일전</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SafeSign PhysicalAI — 산업 안전 수신호 교육 키트</dc:title>
  <dc:subject>PptxGenJS Presentation</dc:subject>
  <dc:creator>심기일전 (송승호 · 이동혁 · 조은수 · 김지훈)</dc:creator>
  <cp:lastModifiedBy>심기일전 (송승호 · 이동혁 · 조은수 · 김지훈)</cp:lastModifiedBy>
  <cp:revision>1</cp:revision>
  <dcterms:created xsi:type="dcterms:W3CDTF">2026-10-02T12:01:07Z</dcterms:created>
  <dcterms:modified xsi:type="dcterms:W3CDTF">2026-10-02T12:01:07Z</dcterms:modified>
</cp:coreProperties>
</file>